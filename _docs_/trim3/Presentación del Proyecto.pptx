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embeddedFontLst>
    <p:embeddedFont>
      <p:font typeface="Calibri" panose="020F0502020204030204" pitchFamily="34" charset="0"/>
      <p:regular r:id="rId18"/>
      <p:bold r:id="rId19"/>
      <p:italic r:id="rId20"/>
      <p:boldItalic r:id="rId21"/>
    </p:embeddedFont>
    <p:embeddedFont>
      <p:font typeface="Work Sans" pitchFamily="2" charset="0"/>
      <p:regular r:id="rId22"/>
      <p:bold r:id="rId23"/>
      <p:italic r:id="rId24"/>
      <p:boldItalic r:id="rId25"/>
    </p:embeddedFont>
    <p:embeddedFont>
      <p:font typeface="Work Sans Light" pitchFamily="2" charset="0"/>
      <p:regular r:id="rId26"/>
      <p:bold r:id="rId27"/>
      <p:italic r:id="rId28"/>
      <p:boldItalic r:id="rId29"/>
    </p:embeddedFont>
    <p:embeddedFont>
      <p:font typeface="Work Sans Medium"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g6NFRhoEWKcNF8Pteqi5vUrwGn7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450" autoAdjust="0"/>
  </p:normalViewPr>
  <p:slideViewPr>
    <p:cSldViewPr snapToGrid="0">
      <p:cViewPr varScale="1">
        <p:scale>
          <a:sx n="60" d="100"/>
          <a:sy n="60" d="100"/>
        </p:scale>
        <p:origin x="78" y="8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MX"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 name="Google Shape;12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MX" sz="1200" dirty="0">
                <a:latin typeface="Work Sans Light"/>
                <a:ea typeface="Work Sans Light"/>
                <a:cs typeface="Work Sans Light"/>
                <a:sym typeface="Work Sans Light"/>
              </a:rPr>
              <a:t>Párrafo o separación por punto describiendo (máximo 6 líneas por párrafo):</a:t>
            </a:r>
            <a:endParaRPr dirty="0"/>
          </a:p>
          <a:p>
            <a:pPr marL="0" lvl="0" indent="0" algn="l" rtl="0">
              <a:spcBef>
                <a:spcPts val="0"/>
              </a:spcBef>
              <a:spcAft>
                <a:spcPts val="0"/>
              </a:spcAft>
              <a:buNone/>
            </a:pPr>
            <a:endParaRPr sz="1200" dirty="0">
              <a:latin typeface="Work Sans Light"/>
              <a:ea typeface="Work Sans Light"/>
              <a:cs typeface="Work Sans Light"/>
              <a:sym typeface="Work Sans Light"/>
            </a:endParaRPr>
          </a:p>
          <a:p>
            <a:pPr marL="285750" lvl="0" indent="-285750" algn="l" rtl="0">
              <a:spcBef>
                <a:spcPts val="0"/>
              </a:spcBef>
              <a:spcAft>
                <a:spcPts val="0"/>
              </a:spcAft>
              <a:buClr>
                <a:schemeClr val="dk1"/>
              </a:buClr>
              <a:buSzPts val="1200"/>
              <a:buFont typeface="Arial"/>
              <a:buChar char="•"/>
            </a:pPr>
            <a:r>
              <a:rPr lang="es-MX" sz="1200" dirty="0">
                <a:latin typeface="Work Sans Light"/>
                <a:ea typeface="Work Sans Light"/>
                <a:cs typeface="Work Sans Light"/>
                <a:sym typeface="Work Sans Light"/>
              </a:rPr>
              <a:t>La Empresa, es decir, nombre, ubicación, a qué se dedica, etc.</a:t>
            </a:r>
            <a:endParaRPr dirty="0"/>
          </a:p>
          <a:p>
            <a:pPr marL="285750" lvl="0" indent="-209550" algn="l" rtl="0">
              <a:spcBef>
                <a:spcPts val="0"/>
              </a:spcBef>
              <a:spcAft>
                <a:spcPts val="0"/>
              </a:spcAft>
              <a:buClr>
                <a:schemeClr val="dk1"/>
              </a:buClr>
              <a:buSzPts val="1200"/>
              <a:buFont typeface="Arial"/>
              <a:buNone/>
            </a:pPr>
            <a:endParaRPr sz="1200" dirty="0">
              <a:latin typeface="Work Sans Light"/>
              <a:ea typeface="Work Sans Light"/>
              <a:cs typeface="Work Sans Light"/>
              <a:sym typeface="Work Sans Light"/>
            </a:endParaRPr>
          </a:p>
          <a:p>
            <a:pPr marL="285750" lvl="0" indent="-285750" algn="l" rtl="0">
              <a:spcBef>
                <a:spcPts val="0"/>
              </a:spcBef>
              <a:spcAft>
                <a:spcPts val="0"/>
              </a:spcAft>
              <a:buClr>
                <a:schemeClr val="dk1"/>
              </a:buClr>
              <a:buSzPts val="1200"/>
              <a:buFont typeface="Arial"/>
              <a:buChar char="•"/>
            </a:pPr>
            <a:r>
              <a:rPr lang="es-MX" sz="1200" dirty="0">
                <a:latin typeface="Work Sans Light"/>
                <a:ea typeface="Work Sans Light"/>
                <a:cs typeface="Work Sans Light"/>
                <a:sym typeface="Work Sans Light"/>
              </a:rPr>
              <a:t>Los Procesos en los que se va a intervenir : Proceso1, Proceso2, Proceso3</a:t>
            </a:r>
            <a:endParaRPr dirty="0"/>
          </a:p>
          <a:p>
            <a:pPr marL="285750" lvl="0" indent="-209550" algn="l" rtl="0">
              <a:spcBef>
                <a:spcPts val="0"/>
              </a:spcBef>
              <a:spcAft>
                <a:spcPts val="0"/>
              </a:spcAft>
              <a:buClr>
                <a:schemeClr val="dk1"/>
              </a:buClr>
              <a:buSzPts val="1200"/>
              <a:buFont typeface="Arial"/>
              <a:buNone/>
            </a:pPr>
            <a:endParaRPr sz="1200" dirty="0">
              <a:latin typeface="Work Sans Light"/>
              <a:ea typeface="Work Sans Light"/>
              <a:cs typeface="Work Sans Light"/>
              <a:sym typeface="Work Sans Light"/>
            </a:endParaRPr>
          </a:p>
          <a:p>
            <a:pPr marL="285750" lvl="0" indent="-285750" algn="l" rtl="0">
              <a:spcBef>
                <a:spcPts val="0"/>
              </a:spcBef>
              <a:spcAft>
                <a:spcPts val="0"/>
              </a:spcAft>
              <a:buClr>
                <a:schemeClr val="dk1"/>
              </a:buClr>
              <a:buSzPts val="1200"/>
              <a:buFont typeface="Arial"/>
              <a:buChar char="•"/>
            </a:pPr>
            <a:r>
              <a:rPr lang="es-MX" sz="1200" dirty="0">
                <a:latin typeface="Work Sans Light"/>
                <a:ea typeface="Work Sans Light"/>
                <a:cs typeface="Work Sans Light"/>
                <a:sym typeface="Work Sans Light"/>
              </a:rPr>
              <a:t>El análisis de la información: Utilización de las Técnicas e Instrumentos de recolección de datos: Revisión Documental (Análisis de datos). Entrevista (Entrevista). Encuesta (Cuestionario). Observación Directa (Diario de Campo). A quiénes: Cargo-Funciones.</a:t>
            </a:r>
            <a:endParaRPr dirty="0"/>
          </a:p>
          <a:p>
            <a:pPr marL="285750" lvl="0" indent="-209550" algn="l" rtl="0">
              <a:spcBef>
                <a:spcPts val="0"/>
              </a:spcBef>
              <a:spcAft>
                <a:spcPts val="0"/>
              </a:spcAft>
              <a:buClr>
                <a:schemeClr val="dk1"/>
              </a:buClr>
              <a:buSzPts val="1200"/>
              <a:buFont typeface="Arial"/>
              <a:buNone/>
            </a:pPr>
            <a:endParaRPr sz="1200" dirty="0">
              <a:latin typeface="Work Sans Light"/>
              <a:ea typeface="Work Sans Light"/>
              <a:cs typeface="Work Sans Light"/>
              <a:sym typeface="Work Sans Light"/>
            </a:endParaRPr>
          </a:p>
          <a:p>
            <a:pPr marL="285750" lvl="0" indent="-285750" algn="l" rtl="0">
              <a:spcBef>
                <a:spcPts val="0"/>
              </a:spcBef>
              <a:spcAft>
                <a:spcPts val="0"/>
              </a:spcAft>
              <a:buClr>
                <a:schemeClr val="dk1"/>
              </a:buClr>
              <a:buSzPts val="1200"/>
              <a:buFont typeface="Arial"/>
              <a:buChar char="•"/>
            </a:pPr>
            <a:r>
              <a:rPr lang="es-MX" sz="1200" dirty="0">
                <a:latin typeface="Work Sans Light"/>
                <a:ea typeface="Work Sans Light"/>
                <a:cs typeface="Work Sans Light"/>
                <a:sym typeface="Work Sans Light"/>
              </a:rPr>
              <a:t>Las necesidades encontradas: Proceso1 (Descripción del proceso y necesidades encontradas). Proceso2 (Descripción del proceso y necesidades encontradas). Proceso3 (Descripción del proceso y necesidades encontradas).</a:t>
            </a:r>
            <a:endParaRPr dirty="0"/>
          </a:p>
          <a:p>
            <a:pPr marL="285750" lvl="0" indent="-209550" algn="l" rtl="0">
              <a:spcBef>
                <a:spcPts val="0"/>
              </a:spcBef>
              <a:spcAft>
                <a:spcPts val="0"/>
              </a:spcAft>
              <a:buClr>
                <a:schemeClr val="dk1"/>
              </a:buClr>
              <a:buSzPts val="1200"/>
              <a:buFont typeface="Arial"/>
              <a:buNone/>
            </a:pPr>
            <a:endParaRPr sz="1200" dirty="0">
              <a:latin typeface="Work Sans Light"/>
              <a:ea typeface="Work Sans Light"/>
              <a:cs typeface="Work Sans Light"/>
              <a:sym typeface="Work Sans Light"/>
            </a:endParaRPr>
          </a:p>
          <a:p>
            <a:pPr marL="285750" lvl="0" indent="-209550" algn="l" rtl="0">
              <a:spcBef>
                <a:spcPts val="0"/>
              </a:spcBef>
              <a:spcAft>
                <a:spcPts val="0"/>
              </a:spcAft>
              <a:buClr>
                <a:schemeClr val="dk1"/>
              </a:buClr>
              <a:buSzPts val="1200"/>
              <a:buFont typeface="Arial"/>
              <a:buNone/>
            </a:pPr>
            <a:endParaRPr sz="1200" dirty="0">
              <a:latin typeface="Work Sans Light"/>
              <a:ea typeface="Work Sans Light"/>
              <a:cs typeface="Work Sans Light"/>
              <a:sym typeface="Work Sans Light"/>
            </a:endParaRPr>
          </a:p>
          <a:p>
            <a:pPr marL="285750" lvl="0" indent="-285750" algn="l" rtl="0">
              <a:spcBef>
                <a:spcPts val="0"/>
              </a:spcBef>
              <a:spcAft>
                <a:spcPts val="0"/>
              </a:spcAft>
              <a:buClr>
                <a:schemeClr val="dk1"/>
              </a:buClr>
              <a:buSzPts val="1200"/>
              <a:buFont typeface="Arial"/>
              <a:buChar char="•"/>
            </a:pPr>
            <a:r>
              <a:rPr lang="es-MX" sz="1200" b="1" dirty="0">
                <a:latin typeface="Work Sans Light"/>
                <a:ea typeface="Work Sans Light"/>
                <a:cs typeface="Work Sans Light"/>
                <a:sym typeface="Work Sans Light"/>
              </a:rPr>
              <a:t>NOTA</a:t>
            </a:r>
            <a:r>
              <a:rPr lang="es-MX" sz="1200" dirty="0">
                <a:latin typeface="Work Sans Light"/>
                <a:ea typeface="Work Sans Light"/>
                <a:cs typeface="Work Sans Light"/>
                <a:sym typeface="Work Sans Light"/>
              </a:rPr>
              <a:t>: No se usan viñetas o numeración, a menos que sea para contar o describir una serie de pasos. Se pueden utilizar imágenes de apoyo.</a:t>
            </a:r>
            <a:endParaRPr dirty="0"/>
          </a:p>
          <a:p>
            <a:pPr marL="0" lvl="0" indent="0" algn="l" rtl="0">
              <a:spcBef>
                <a:spcPts val="0"/>
              </a:spcBef>
              <a:spcAft>
                <a:spcPts val="0"/>
              </a:spcAft>
              <a:buNone/>
            </a:pPr>
            <a:endParaRPr dirty="0"/>
          </a:p>
        </p:txBody>
      </p:sp>
      <p:sp>
        <p:nvSpPr>
          <p:cNvPr id="129" name="Google Shape;12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lgn="ctr" rtl="0">
              <a:spcBef>
                <a:spcPts val="0"/>
              </a:spcBef>
              <a:spcAft>
                <a:spcPts val="0"/>
              </a:spcAft>
            </a:pPr>
            <a:r>
              <a:rPr lang="es-ES" sz="1800" b="0" i="0" u="none" strike="noStrike" dirty="0">
                <a:solidFill>
                  <a:srgbClr val="38AA00"/>
                </a:solidFill>
                <a:effectLst/>
                <a:latin typeface="Work Sans" pitchFamily="2" charset="0"/>
              </a:rPr>
              <a:t>Objetivo General</a:t>
            </a:r>
            <a:endParaRPr lang="es-ES" b="0" dirty="0">
              <a:effectLst/>
            </a:endParaRPr>
          </a:p>
          <a:p>
            <a:pPr rtl="0">
              <a:spcBef>
                <a:spcPts val="0"/>
              </a:spcBef>
              <a:spcAft>
                <a:spcPts val="0"/>
              </a:spcAft>
            </a:pPr>
            <a:br>
              <a:rPr lang="es-ES" b="0" dirty="0">
                <a:effectLst/>
              </a:rPr>
            </a:br>
            <a:r>
              <a:rPr lang="es-ES" sz="1800" b="0" i="0" u="none" strike="noStrike" dirty="0">
                <a:solidFill>
                  <a:srgbClr val="000000"/>
                </a:solidFill>
                <a:effectLst/>
                <a:latin typeface="Work Sans" pitchFamily="2" charset="0"/>
              </a:rPr>
              <a:t>Desarrollar un Sistema de Información Web [Nombre del Sistema] para el [seguimiento, apoyo, etc.] a los [procesos] de la Empresa [Nombre de la Empresa].</a:t>
            </a:r>
            <a:endParaRPr lang="es-ES" b="0" dirty="0">
              <a:effectLst/>
            </a:endParaRPr>
          </a:p>
          <a:p>
            <a:pPr rtl="0">
              <a:spcBef>
                <a:spcPts val="0"/>
              </a:spcBef>
              <a:spcAft>
                <a:spcPts val="0"/>
              </a:spcAft>
            </a:pPr>
            <a:br>
              <a:rPr lang="es-ES" b="0" dirty="0">
                <a:effectLst/>
              </a:rPr>
            </a:br>
            <a:r>
              <a:rPr lang="es-ES" sz="1800" b="0" i="0" u="none" strike="noStrike" dirty="0">
                <a:solidFill>
                  <a:srgbClr val="38AA00"/>
                </a:solidFill>
                <a:effectLst/>
                <a:latin typeface="Work Sans" pitchFamily="2" charset="0"/>
              </a:rPr>
              <a:t>Objetivo Específicos</a:t>
            </a:r>
            <a:endParaRPr lang="es-ES" b="0" dirty="0">
              <a:effectLst/>
            </a:endParaRPr>
          </a:p>
          <a:p>
            <a:pPr rtl="0" fontAlgn="base">
              <a:spcBef>
                <a:spcPts val="0"/>
              </a:spcBef>
              <a:spcAft>
                <a:spcPts val="0"/>
              </a:spcAft>
              <a:buFont typeface="Arial" panose="020B0604020202020204" pitchFamily="34" charset="0"/>
              <a:buChar char="•"/>
            </a:pPr>
            <a:br>
              <a:rPr lang="es-ES" b="0" dirty="0">
                <a:effectLst/>
              </a:rPr>
            </a:br>
            <a:r>
              <a:rPr lang="es-ES" sz="1800" b="0" i="0" u="none" strike="noStrike" dirty="0">
                <a:solidFill>
                  <a:srgbClr val="000000"/>
                </a:solidFill>
                <a:effectLst/>
                <a:latin typeface="Work Sans" pitchFamily="2" charset="0"/>
              </a:rPr>
              <a:t>Gestionar los Usuarios de la Empresa [Nombre de la Empresa].</a:t>
            </a:r>
            <a:endParaRPr lang="es-E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s-ES" sz="1800" b="0" i="0" u="none" strike="noStrike" dirty="0">
                <a:solidFill>
                  <a:srgbClr val="000000"/>
                </a:solidFill>
                <a:effectLst/>
                <a:latin typeface="Work Sans" pitchFamily="2" charset="0"/>
              </a:rPr>
              <a:t>Gestionar [ModProceso1] de la Empresa [Nombre de la Empresa].</a:t>
            </a:r>
            <a:endParaRPr lang="es-E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s-ES" sz="1800" b="0" i="0" u="none" strike="noStrike" dirty="0">
                <a:solidFill>
                  <a:srgbClr val="000000"/>
                </a:solidFill>
                <a:effectLst/>
                <a:latin typeface="Work Sans" pitchFamily="2" charset="0"/>
              </a:rPr>
              <a:t>Gestionar [ModProceso2] de la Empresa [Nombre de la Empresa].</a:t>
            </a:r>
            <a:endParaRPr lang="es-E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s-ES" sz="1800" b="0" i="0" u="none" strike="noStrike" dirty="0">
                <a:solidFill>
                  <a:srgbClr val="000000"/>
                </a:solidFill>
                <a:effectLst/>
                <a:latin typeface="Work Sans" pitchFamily="2" charset="0"/>
              </a:rPr>
              <a:t>Gestionar [ModProceso3] de la Empresa [Nombre de la Empresa].</a:t>
            </a:r>
            <a:endParaRPr lang="es-ES"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s-ES" sz="1800" b="0" i="0" u="none" strike="noStrike" dirty="0">
                <a:solidFill>
                  <a:srgbClr val="000000"/>
                </a:solidFill>
                <a:effectLst/>
                <a:latin typeface="Work Sans" pitchFamily="2" charset="0"/>
              </a:rPr>
              <a:t>Gestionar los reportes gráficos e impresos de la Empresa [Nombre de la Empresa].</a:t>
            </a:r>
            <a:endParaRPr lang="es-ES" sz="1800" b="0" i="0" u="none" strike="noStrike" dirty="0">
              <a:solidFill>
                <a:srgbClr val="000000"/>
              </a:solidFill>
              <a:effectLst/>
              <a:latin typeface="Arial" panose="020B0604020202020204" pitchFamily="34" charset="0"/>
            </a:endParaRPr>
          </a:p>
          <a:p>
            <a:pPr marL="0" lvl="0" indent="0" algn="l" rtl="0">
              <a:spcBef>
                <a:spcPts val="0"/>
              </a:spcBef>
              <a:spcAft>
                <a:spcPts val="0"/>
              </a:spcAft>
              <a:buNone/>
            </a:pPr>
            <a:endParaRPr dirty="0"/>
          </a:p>
        </p:txBody>
      </p:sp>
      <p:sp>
        <p:nvSpPr>
          <p:cNvPr id="146" name="Google Shape;14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rtl="0">
              <a:spcBef>
                <a:spcPts val="0"/>
              </a:spcBef>
              <a:spcAft>
                <a:spcPts val="0"/>
              </a:spcAft>
              <a:buNone/>
            </a:pPr>
            <a:r>
              <a:rPr lang="es-ES" sz="1200" dirty="0">
                <a:solidFill>
                  <a:schemeClr val="dk1"/>
                </a:solidFill>
                <a:latin typeface="Work Sans Light"/>
                <a:ea typeface="Work Sans Light"/>
                <a:cs typeface="Work Sans Light"/>
                <a:sym typeface="Work Sans Light"/>
              </a:rPr>
              <a:t>Párrafo o separación por punto describiendo (máximo 6 líneas por párrafo):</a:t>
            </a:r>
            <a:endParaRPr lang="es-ES" dirty="0"/>
          </a:p>
          <a:p>
            <a:pPr marL="0" marR="0" lvl="0" indent="0" algn="l" rtl="0">
              <a:spcBef>
                <a:spcPts val="0"/>
              </a:spcBef>
              <a:spcAft>
                <a:spcPts val="0"/>
              </a:spcAft>
              <a:buNone/>
            </a:pPr>
            <a:endParaRPr lang="es-ES" sz="1200" dirty="0">
              <a:solidFill>
                <a:schemeClr val="dk1"/>
              </a:solidFill>
              <a:latin typeface="Work Sans Light"/>
              <a:ea typeface="Work Sans Light"/>
              <a:cs typeface="Work Sans Light"/>
              <a:sym typeface="Work Sans Light"/>
            </a:endParaRPr>
          </a:p>
          <a:p>
            <a:pPr marL="285750" marR="0" lvl="0" indent="-285750" algn="l" rtl="0">
              <a:spcBef>
                <a:spcPts val="0"/>
              </a:spcBef>
              <a:spcAft>
                <a:spcPts val="0"/>
              </a:spcAft>
              <a:buClr>
                <a:schemeClr val="dk1"/>
              </a:buClr>
              <a:buSzPts val="1600"/>
              <a:buFont typeface="Arial"/>
              <a:buChar char="•"/>
            </a:pPr>
            <a:r>
              <a:rPr lang="es-ES" sz="1200" dirty="0">
                <a:solidFill>
                  <a:schemeClr val="dk1"/>
                </a:solidFill>
                <a:latin typeface="Work Sans Light"/>
                <a:ea typeface="Work Sans Light"/>
                <a:cs typeface="Work Sans Light"/>
                <a:sym typeface="Work Sans Light"/>
              </a:rPr>
              <a:t>La solución: Se propone el desarrollo de un Sistema de Información Web denominado [Nombre del Sistema] que sirva como herramienta software de apoyo al seguimiento del/los [Nombre Proceso(s)] de la Empresa [Nombre Empresa]. </a:t>
            </a:r>
            <a:endParaRPr lang="es-ES" dirty="0"/>
          </a:p>
          <a:p>
            <a:pPr marL="285750" marR="0" lvl="0" indent="-184150" algn="l" rtl="0">
              <a:spcBef>
                <a:spcPts val="0"/>
              </a:spcBef>
              <a:spcAft>
                <a:spcPts val="0"/>
              </a:spcAft>
              <a:buClr>
                <a:schemeClr val="dk1"/>
              </a:buClr>
              <a:buSzPts val="1600"/>
              <a:buFont typeface="Arial"/>
              <a:buNone/>
            </a:pPr>
            <a:endParaRPr lang="es-ES" sz="1200" dirty="0">
              <a:solidFill>
                <a:schemeClr val="dk1"/>
              </a:solidFill>
              <a:latin typeface="Work Sans Light"/>
              <a:ea typeface="Work Sans Light"/>
              <a:cs typeface="Work Sans Light"/>
              <a:sym typeface="Work Sans Light"/>
            </a:endParaRPr>
          </a:p>
          <a:p>
            <a:pPr marL="285750" marR="0" lvl="0" indent="-285750" algn="l" rtl="0">
              <a:spcBef>
                <a:spcPts val="0"/>
              </a:spcBef>
              <a:spcAft>
                <a:spcPts val="0"/>
              </a:spcAft>
              <a:buClr>
                <a:schemeClr val="dk1"/>
              </a:buClr>
              <a:buSzPts val="1600"/>
              <a:buFont typeface="Arial"/>
              <a:buChar char="•"/>
            </a:pPr>
            <a:r>
              <a:rPr lang="es-ES" sz="1200" dirty="0">
                <a:solidFill>
                  <a:schemeClr val="dk1"/>
                </a:solidFill>
                <a:latin typeface="Work Sans Light"/>
                <a:ea typeface="Work Sans Light"/>
                <a:cs typeface="Work Sans Light"/>
                <a:sym typeface="Work Sans Light"/>
              </a:rPr>
              <a:t>La importancia del Sistema: Permitirá la gestión de los [nombre Perfiles] como usuarios de la Empresa [Nombre Empresa] [más Información]. En [ModProceso1] los [Perfiles Usuario] podrán [acciones del Sistema (beneficios comparados con las necesidades encontradas)]. En [ModProceso2] los [Perfiles Usuario] podrán [acciones del Sistema (beneficios comparados con las necesidades encontradas)]. Finalmente, facilitará la gestión de reportes gráficos e impresos, necesarios para la toma de decisiones del personal administrativo de la Empresa [Nombre Empresa]. </a:t>
            </a:r>
            <a:endParaRPr lang="es-ES" dirty="0"/>
          </a:p>
          <a:p>
            <a:pPr marL="285750" marR="0" lvl="0" indent="-184150" algn="l" rtl="0">
              <a:spcBef>
                <a:spcPts val="0"/>
              </a:spcBef>
              <a:spcAft>
                <a:spcPts val="0"/>
              </a:spcAft>
              <a:buClr>
                <a:schemeClr val="dk1"/>
              </a:buClr>
              <a:buSzPts val="1600"/>
              <a:buFont typeface="Arial"/>
              <a:buNone/>
            </a:pPr>
            <a:endParaRPr lang="es-ES" sz="1200" dirty="0">
              <a:solidFill>
                <a:schemeClr val="dk1"/>
              </a:solidFill>
              <a:latin typeface="Work Sans Light"/>
              <a:ea typeface="Work Sans Light"/>
              <a:cs typeface="Work Sans Light"/>
              <a:sym typeface="Work Sans Light"/>
            </a:endParaRPr>
          </a:p>
          <a:p>
            <a:pPr marL="285750" marR="0" lvl="0" indent="-285750" algn="l" rtl="0">
              <a:spcBef>
                <a:spcPts val="0"/>
              </a:spcBef>
              <a:spcAft>
                <a:spcPts val="0"/>
              </a:spcAft>
              <a:buClr>
                <a:schemeClr val="dk1"/>
              </a:buClr>
              <a:buSzPts val="1600"/>
              <a:buFont typeface="Arial"/>
              <a:buChar char="•"/>
            </a:pPr>
            <a:r>
              <a:rPr lang="es-ES" sz="1200" dirty="0">
                <a:solidFill>
                  <a:schemeClr val="dk1"/>
                </a:solidFill>
                <a:latin typeface="Work Sans Light"/>
                <a:ea typeface="Work Sans Light"/>
                <a:cs typeface="Work Sans Light"/>
                <a:sym typeface="Work Sans Light"/>
              </a:rPr>
              <a:t>El aporte al Sector: El Sistema [Nombre Empresa] servirá como aporte al sector [Sector], como [importancia para el Sector].</a:t>
            </a:r>
            <a:endParaRPr lang="es-ES" dirty="0"/>
          </a:p>
          <a:p>
            <a:pPr marL="285750" marR="0" lvl="0" indent="-184150" algn="l" rtl="0">
              <a:spcBef>
                <a:spcPts val="0"/>
              </a:spcBef>
              <a:spcAft>
                <a:spcPts val="0"/>
              </a:spcAft>
              <a:buClr>
                <a:schemeClr val="dk1"/>
              </a:buClr>
              <a:buSzPts val="1600"/>
              <a:buFont typeface="Arial"/>
              <a:buNone/>
            </a:pPr>
            <a:endParaRPr lang="es-ES" sz="1200" dirty="0">
              <a:solidFill>
                <a:schemeClr val="dk1"/>
              </a:solidFill>
              <a:latin typeface="Work Sans Light"/>
              <a:ea typeface="Work Sans Light"/>
              <a:cs typeface="Work Sans Light"/>
              <a:sym typeface="Work Sans Light"/>
            </a:endParaRPr>
          </a:p>
          <a:p>
            <a:pPr marL="285750" marR="0" lvl="0" indent="-285750" algn="l" rtl="0">
              <a:spcBef>
                <a:spcPts val="0"/>
              </a:spcBef>
              <a:spcAft>
                <a:spcPts val="0"/>
              </a:spcAft>
              <a:buClr>
                <a:schemeClr val="dk1"/>
              </a:buClr>
              <a:buSzPts val="1600"/>
              <a:buFont typeface="Arial"/>
              <a:buChar char="•"/>
            </a:pPr>
            <a:r>
              <a:rPr lang="es-ES" sz="1200" b="1" dirty="0">
                <a:solidFill>
                  <a:schemeClr val="dk1"/>
                </a:solidFill>
                <a:latin typeface="Work Sans Light"/>
                <a:ea typeface="Work Sans Light"/>
                <a:cs typeface="Work Sans Light"/>
                <a:sym typeface="Work Sans Light"/>
              </a:rPr>
              <a:t>NOTA</a:t>
            </a:r>
            <a:r>
              <a:rPr lang="es-ES" sz="1200" dirty="0">
                <a:solidFill>
                  <a:schemeClr val="dk1"/>
                </a:solidFill>
                <a:latin typeface="Work Sans Light"/>
                <a:ea typeface="Work Sans Light"/>
                <a:cs typeface="Work Sans Light"/>
                <a:sym typeface="Work Sans Light"/>
              </a:rPr>
              <a:t>: No se usan viñetas o numeración, a menos que sea para contar o describir una serie de pasos. Se pueden utilizar imágenes de apoyo.</a:t>
            </a:r>
            <a:endParaRPr lang="es-ES" dirty="0"/>
          </a:p>
          <a:p>
            <a:pPr marL="0" lvl="0" indent="0" algn="l" rtl="0">
              <a:spcBef>
                <a:spcPts val="0"/>
              </a:spcBef>
              <a:spcAft>
                <a:spcPts val="0"/>
              </a:spcAft>
              <a:buNone/>
            </a:pPr>
            <a:endParaRPr lang="es-ES" dirty="0"/>
          </a:p>
          <a:p>
            <a:pPr marL="0" lvl="0" indent="0" algn="l" rtl="0">
              <a:spcBef>
                <a:spcPts val="0"/>
              </a:spcBef>
              <a:spcAft>
                <a:spcPts val="0"/>
              </a:spcAft>
              <a:buNone/>
            </a:pPr>
            <a:endParaRPr lang="es-CO"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s-CO" dirty="0"/>
              <a:t>Opcional : </a:t>
            </a:r>
            <a:r>
              <a:rPr lang="es-ES" sz="1200" dirty="0">
                <a:solidFill>
                  <a:schemeClr val="dk1"/>
                </a:solidFill>
                <a:latin typeface="Work Sans Light"/>
              </a:rPr>
              <a:t>La importancia del sistema radica en que permite gestionar voluntarios, solicitantes y administradores dentro de una misma red colaborativa. La plataforma facilita el registro digital de usuarios e implementa procesos de verificación de perfiles, generando mayor confianza, transparencia y organización institucional. Toda la información queda estructurada en bases de datos seguras.</a:t>
            </a:r>
            <a:endParaRPr lang="es-CO" sz="1200" dirty="0">
              <a:solidFill>
                <a:schemeClr val="dk1"/>
              </a:solidFill>
              <a:latin typeface="Work Sans Light"/>
            </a:endParaRPr>
          </a:p>
          <a:p>
            <a:pPr marL="0" lvl="0" indent="0" algn="l" rtl="0">
              <a:spcBef>
                <a:spcPts val="0"/>
              </a:spcBef>
              <a:spcAft>
                <a:spcPts val="0"/>
              </a:spcAft>
              <a:buNone/>
            </a:pPr>
            <a:endParaRPr dirty="0"/>
          </a:p>
        </p:txBody>
      </p:sp>
      <p:sp>
        <p:nvSpPr>
          <p:cNvPr id="157" name="Google Shape;15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5" name="Google Shape;16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rtl="0">
              <a:spcBef>
                <a:spcPts val="0"/>
              </a:spcBef>
              <a:spcAft>
                <a:spcPts val="0"/>
              </a:spcAft>
              <a:buNone/>
            </a:pPr>
            <a:r>
              <a:rPr lang="es-ES" sz="1200" dirty="0">
                <a:solidFill>
                  <a:schemeClr val="dk1"/>
                </a:solidFill>
                <a:latin typeface="Work Sans Light"/>
                <a:ea typeface="Work Sans Light"/>
                <a:cs typeface="Work Sans Light"/>
                <a:sym typeface="Work Sans Light"/>
              </a:rPr>
              <a:t>Párrafo o separación por punto describiendo (máximo 6 líneas por párrafo):</a:t>
            </a:r>
            <a:endParaRPr lang="es-ES" dirty="0"/>
          </a:p>
          <a:p>
            <a:pPr marL="0" marR="0" lvl="0" indent="0" algn="l" rtl="0">
              <a:spcBef>
                <a:spcPts val="0"/>
              </a:spcBef>
              <a:spcAft>
                <a:spcPts val="0"/>
              </a:spcAft>
              <a:buNone/>
            </a:pPr>
            <a:endParaRPr lang="es-ES" sz="1200" dirty="0">
              <a:solidFill>
                <a:schemeClr val="dk1"/>
              </a:solidFill>
              <a:latin typeface="Work Sans Light"/>
              <a:ea typeface="Work Sans Light"/>
              <a:cs typeface="Work Sans Light"/>
              <a:sym typeface="Work Sans Light"/>
            </a:endParaRPr>
          </a:p>
          <a:p>
            <a:pPr marL="285750" marR="0" lvl="0" indent="-285750" algn="l" rtl="0">
              <a:spcBef>
                <a:spcPts val="0"/>
              </a:spcBef>
              <a:spcAft>
                <a:spcPts val="0"/>
              </a:spcAft>
              <a:buClr>
                <a:schemeClr val="dk1"/>
              </a:buClr>
              <a:buSzPts val="1600"/>
              <a:buFont typeface="Arial"/>
              <a:buChar char="•"/>
            </a:pPr>
            <a:r>
              <a:rPr lang="es-ES" sz="1200" dirty="0">
                <a:solidFill>
                  <a:schemeClr val="dk1"/>
                </a:solidFill>
                <a:latin typeface="Work Sans Light"/>
                <a:ea typeface="Work Sans Light"/>
                <a:cs typeface="Work Sans Light"/>
                <a:sym typeface="Work Sans Light"/>
              </a:rPr>
              <a:t>Qué hace el Sistema: Operaciones que los perfiles pueden hacer (ModProceso1, ModProceso2, ModProceso3)</a:t>
            </a:r>
            <a:endParaRPr lang="es-ES" dirty="0"/>
          </a:p>
          <a:p>
            <a:pPr marL="285750" marR="0" lvl="0" indent="-184150" algn="l" rtl="0">
              <a:spcBef>
                <a:spcPts val="0"/>
              </a:spcBef>
              <a:spcAft>
                <a:spcPts val="0"/>
              </a:spcAft>
              <a:buClr>
                <a:schemeClr val="dk1"/>
              </a:buClr>
              <a:buSzPts val="1600"/>
              <a:buFont typeface="Arial"/>
              <a:buNone/>
            </a:pPr>
            <a:endParaRPr lang="es-ES" sz="1200" dirty="0">
              <a:solidFill>
                <a:schemeClr val="dk1"/>
              </a:solidFill>
              <a:latin typeface="Work Sans Light"/>
              <a:ea typeface="Work Sans Light"/>
              <a:cs typeface="Work Sans Light"/>
              <a:sym typeface="Work Sans Light"/>
            </a:endParaRPr>
          </a:p>
          <a:p>
            <a:pPr marL="285750" marR="0" lvl="0" indent="-285750" algn="l" rtl="0">
              <a:spcBef>
                <a:spcPts val="0"/>
              </a:spcBef>
              <a:spcAft>
                <a:spcPts val="0"/>
              </a:spcAft>
              <a:buClr>
                <a:schemeClr val="dk1"/>
              </a:buClr>
              <a:buSzPts val="1600"/>
              <a:buFont typeface="Arial"/>
              <a:buChar char="•"/>
            </a:pPr>
            <a:r>
              <a:rPr lang="es-ES" sz="1200" dirty="0">
                <a:solidFill>
                  <a:schemeClr val="dk1"/>
                </a:solidFill>
                <a:latin typeface="Work Sans Light"/>
                <a:ea typeface="Work Sans Light"/>
                <a:cs typeface="Work Sans Light"/>
                <a:sym typeface="Work Sans Light"/>
              </a:rPr>
              <a:t>Qué NO hace el Sistema: Operaciones que NO va hacer el Sistema (ModProceso4, ModProceso5). </a:t>
            </a:r>
            <a:endParaRPr lang="es-ES" dirty="0"/>
          </a:p>
          <a:p>
            <a:pPr marL="285750" marR="0" lvl="0" indent="-184150" algn="l" rtl="0">
              <a:spcBef>
                <a:spcPts val="0"/>
              </a:spcBef>
              <a:spcAft>
                <a:spcPts val="0"/>
              </a:spcAft>
              <a:buClr>
                <a:schemeClr val="dk1"/>
              </a:buClr>
              <a:buSzPts val="1600"/>
              <a:buFont typeface="Arial"/>
              <a:buNone/>
            </a:pPr>
            <a:endParaRPr lang="es-ES" sz="1200" dirty="0">
              <a:solidFill>
                <a:schemeClr val="dk1"/>
              </a:solidFill>
              <a:latin typeface="Work Sans Light"/>
              <a:ea typeface="Work Sans Light"/>
              <a:cs typeface="Work Sans Light"/>
              <a:sym typeface="Work Sans Light"/>
            </a:endParaRPr>
          </a:p>
          <a:p>
            <a:pPr marL="285750" marR="0" lvl="0" indent="-285750" algn="l" rtl="0">
              <a:spcBef>
                <a:spcPts val="0"/>
              </a:spcBef>
              <a:spcAft>
                <a:spcPts val="0"/>
              </a:spcAft>
              <a:buClr>
                <a:schemeClr val="dk1"/>
              </a:buClr>
              <a:buSzPts val="1600"/>
              <a:buFont typeface="Arial"/>
              <a:buChar char="•"/>
            </a:pPr>
            <a:r>
              <a:rPr lang="es-ES" sz="1200" dirty="0">
                <a:solidFill>
                  <a:schemeClr val="dk1"/>
                </a:solidFill>
                <a:latin typeface="Work Sans Light"/>
                <a:ea typeface="Work Sans Light"/>
                <a:cs typeface="Work Sans Light"/>
                <a:sym typeface="Work Sans Light"/>
              </a:rPr>
              <a:t>Tecnologías: Descripción de tecnologías del proyecto (Arquitectura de software, patrones de diseño, Back-</a:t>
            </a:r>
            <a:r>
              <a:rPr lang="es-ES" sz="1200" dirty="0" err="1">
                <a:solidFill>
                  <a:schemeClr val="dk1"/>
                </a:solidFill>
                <a:latin typeface="Work Sans Light"/>
                <a:ea typeface="Work Sans Light"/>
                <a:cs typeface="Work Sans Light"/>
                <a:sym typeface="Work Sans Light"/>
              </a:rPr>
              <a:t>End</a:t>
            </a:r>
            <a:r>
              <a:rPr lang="es-ES" sz="1200" dirty="0">
                <a:solidFill>
                  <a:schemeClr val="dk1"/>
                </a:solidFill>
                <a:latin typeface="Work Sans Light"/>
                <a:ea typeface="Work Sans Light"/>
                <a:cs typeface="Work Sans Light"/>
                <a:sym typeface="Work Sans Light"/>
              </a:rPr>
              <a:t>, </a:t>
            </a:r>
            <a:r>
              <a:rPr lang="es-ES" sz="1200" dirty="0" err="1">
                <a:solidFill>
                  <a:schemeClr val="dk1"/>
                </a:solidFill>
                <a:latin typeface="Work Sans Light"/>
                <a:ea typeface="Work Sans Light"/>
                <a:cs typeface="Work Sans Light"/>
                <a:sym typeface="Work Sans Light"/>
              </a:rPr>
              <a:t>Frond-End</a:t>
            </a:r>
            <a:r>
              <a:rPr lang="es-ES" sz="1200" dirty="0">
                <a:solidFill>
                  <a:schemeClr val="dk1"/>
                </a:solidFill>
                <a:latin typeface="Work Sans Light"/>
                <a:ea typeface="Work Sans Light"/>
                <a:cs typeface="Work Sans Light"/>
                <a:sym typeface="Work Sans Light"/>
              </a:rPr>
              <a:t>, librerías, </a:t>
            </a:r>
            <a:r>
              <a:rPr lang="es-ES" sz="1200" dirty="0" err="1">
                <a:solidFill>
                  <a:schemeClr val="dk1"/>
                </a:solidFill>
                <a:latin typeface="Work Sans Light"/>
                <a:ea typeface="Work Sans Light"/>
                <a:cs typeface="Work Sans Light"/>
                <a:sym typeface="Work Sans Light"/>
              </a:rPr>
              <a:t>frameworks</a:t>
            </a:r>
            <a:r>
              <a:rPr lang="es-ES" sz="1200" dirty="0">
                <a:solidFill>
                  <a:schemeClr val="dk1"/>
                </a:solidFill>
                <a:latin typeface="Work Sans Light"/>
                <a:ea typeface="Work Sans Light"/>
                <a:cs typeface="Work Sans Light"/>
                <a:sym typeface="Work Sans Light"/>
              </a:rPr>
              <a:t>, entre otros)</a:t>
            </a:r>
            <a:endParaRPr lang="es-ES" dirty="0"/>
          </a:p>
          <a:p>
            <a:pPr marL="0" marR="0" lvl="0" indent="0" algn="l" rtl="0">
              <a:spcBef>
                <a:spcPts val="0"/>
              </a:spcBef>
              <a:spcAft>
                <a:spcPts val="0"/>
              </a:spcAft>
              <a:buNone/>
            </a:pPr>
            <a:endParaRPr lang="es-ES" sz="1200" b="1" dirty="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endParaRPr lang="es-ES" sz="1200" b="1" dirty="0">
              <a:solidFill>
                <a:schemeClr val="dk1"/>
              </a:solidFill>
              <a:latin typeface="Work Sans Light"/>
              <a:ea typeface="Work Sans Light"/>
              <a:cs typeface="Work Sans Light"/>
              <a:sym typeface="Work Sans Light"/>
            </a:endParaRPr>
          </a:p>
          <a:p>
            <a:pPr marL="285750" marR="0" lvl="0" indent="-285750" algn="l" rtl="0">
              <a:spcBef>
                <a:spcPts val="0"/>
              </a:spcBef>
              <a:spcAft>
                <a:spcPts val="0"/>
              </a:spcAft>
              <a:buClr>
                <a:schemeClr val="dk1"/>
              </a:buClr>
              <a:buSzPts val="1600"/>
              <a:buFont typeface="Arial"/>
              <a:buChar char="•"/>
            </a:pPr>
            <a:r>
              <a:rPr lang="es-ES" sz="1200" b="1" dirty="0">
                <a:solidFill>
                  <a:schemeClr val="dk1"/>
                </a:solidFill>
                <a:latin typeface="Work Sans Light"/>
                <a:ea typeface="Work Sans Light"/>
                <a:cs typeface="Work Sans Light"/>
                <a:sym typeface="Work Sans Light"/>
              </a:rPr>
              <a:t>NOTA</a:t>
            </a:r>
            <a:r>
              <a:rPr lang="es-ES" sz="1200" dirty="0">
                <a:solidFill>
                  <a:schemeClr val="dk1"/>
                </a:solidFill>
                <a:latin typeface="Work Sans Light"/>
                <a:ea typeface="Work Sans Light"/>
                <a:cs typeface="Work Sans Light"/>
                <a:sym typeface="Work Sans Light"/>
              </a:rPr>
              <a:t>: No se usan viñetas o numeración, a menos que sea para contar o describir una serie de pasos. Se pueden utilizar imágenes de apoyo.</a:t>
            </a:r>
            <a:endParaRPr lang="es-ES" dirty="0"/>
          </a:p>
          <a:p>
            <a:pPr marL="0" lvl="0" indent="0" algn="l" rtl="0">
              <a:spcBef>
                <a:spcPts val="0"/>
              </a:spcBef>
              <a:spcAft>
                <a:spcPts val="0"/>
              </a:spcAft>
              <a:buNone/>
            </a:pPr>
            <a:endParaRPr dirty="0"/>
          </a:p>
        </p:txBody>
      </p:sp>
      <p:sp>
        <p:nvSpPr>
          <p:cNvPr id="173" name="Google Shape;17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1" name="Google Shape;18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Diapositiva de título">
  <p:cSld name="1_Diapositiva de título">
    <p:spTree>
      <p:nvGrpSpPr>
        <p:cNvPr id="1" name="Shape 15"/>
        <p:cNvGrpSpPr/>
        <p:nvPr/>
      </p:nvGrpSpPr>
      <p:grpSpPr>
        <a:xfrm>
          <a:off x="0" y="0"/>
          <a:ext cx="0" cy="0"/>
          <a:chOff x="0" y="0"/>
          <a:chExt cx="0" cy="0"/>
        </a:xfrm>
      </p:grpSpPr>
      <p:pic>
        <p:nvPicPr>
          <p:cNvPr id="16" name="Google Shape;16;p17" descr="Interfaz de usuario gráfica, Texto, Aplicación&#10;&#10;Descripción generada automáticamente"/>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Encabezado de sección">
  <p:cSld name="1_Encabezado de sección">
    <p:spTree>
      <p:nvGrpSpPr>
        <p:cNvPr id="1" name="Shape 17"/>
        <p:cNvGrpSpPr/>
        <p:nvPr/>
      </p:nvGrpSpPr>
      <p:grpSpPr>
        <a:xfrm>
          <a:off x="0" y="0"/>
          <a:ext cx="0" cy="0"/>
          <a:chOff x="0" y="0"/>
          <a:chExt cx="0" cy="0"/>
        </a:xfrm>
      </p:grpSpPr>
      <p:pic>
        <p:nvPicPr>
          <p:cNvPr id="18" name="Google Shape;18;p18"/>
          <p:cNvPicPr preferRelativeResize="0"/>
          <p:nvPr/>
        </p:nvPicPr>
        <p:blipFill rotWithShape="1">
          <a:blip r:embed="rId2">
            <a:alphaModFix/>
          </a:blip>
          <a:srcRect/>
          <a:stretch/>
        </p:blipFill>
        <p:spPr>
          <a:xfrm>
            <a:off x="11027833" y="317431"/>
            <a:ext cx="811391" cy="79058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Encabezado de sección">
  <p:cSld name="2_Encabezado de sección">
    <p:spTree>
      <p:nvGrpSpPr>
        <p:cNvPr id="1" name="Shape 19"/>
        <p:cNvGrpSpPr/>
        <p:nvPr/>
      </p:nvGrpSpPr>
      <p:grpSpPr>
        <a:xfrm>
          <a:off x="0" y="0"/>
          <a:ext cx="0" cy="0"/>
          <a:chOff x="0" y="0"/>
          <a:chExt cx="0" cy="0"/>
        </a:xfrm>
      </p:grpSpPr>
      <p:pic>
        <p:nvPicPr>
          <p:cNvPr id="20" name="Google Shape;20;p19" descr="Patrón de fondo&#10;&#10;Descripción generada automáticamente"/>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21" name="Google Shape;21;p19"/>
          <p:cNvPicPr preferRelativeResize="0"/>
          <p:nvPr/>
        </p:nvPicPr>
        <p:blipFill rotWithShape="1">
          <a:blip r:embed="rId3">
            <a:alphaModFix/>
          </a:blip>
          <a:srcRect/>
          <a:stretch/>
        </p:blipFill>
        <p:spPr>
          <a:xfrm>
            <a:off x="11054859" y="303050"/>
            <a:ext cx="855785" cy="83398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27"/>
        <p:cNvGrpSpPr/>
        <p:nvPr/>
      </p:nvGrpSpPr>
      <p:grpSpPr>
        <a:xfrm>
          <a:off x="0" y="0"/>
          <a:ext cx="0" cy="0"/>
          <a:chOff x="0" y="0"/>
          <a:chExt cx="0" cy="0"/>
        </a:xfrm>
      </p:grpSpPr>
      <p:sp>
        <p:nvSpPr>
          <p:cNvPr id="28" name="Google Shape;2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31"/>
        <p:cNvGrpSpPr/>
        <p:nvPr/>
      </p:nvGrpSpPr>
      <p:grpSpPr>
        <a:xfrm>
          <a:off x="0" y="0"/>
          <a:ext cx="0" cy="0"/>
          <a:chOff x="0" y="0"/>
          <a:chExt cx="0" cy="0"/>
        </a:xfrm>
      </p:grpSpPr>
      <p:sp>
        <p:nvSpPr>
          <p:cNvPr id="32" name="Google Shape;32;p2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4" name="Google Shape;34;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7"/>
        <p:cNvGrpSpPr/>
        <p:nvPr/>
      </p:nvGrpSpPr>
      <p:grpSpPr>
        <a:xfrm>
          <a:off x="0" y="0"/>
          <a:ext cx="0" cy="0"/>
          <a:chOff x="0" y="0"/>
          <a:chExt cx="0" cy="0"/>
        </a:xfrm>
      </p:grpSpPr>
      <p:sp>
        <p:nvSpPr>
          <p:cNvPr id="38" name="Google Shape;3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43"/>
        <p:cNvGrpSpPr/>
        <p:nvPr/>
      </p:nvGrpSpPr>
      <p:grpSpPr>
        <a:xfrm>
          <a:off x="0" y="0"/>
          <a:ext cx="0" cy="0"/>
          <a:chOff x="0" y="0"/>
          <a:chExt cx="0" cy="0"/>
        </a:xfrm>
      </p:grpSpPr>
      <p:sp>
        <p:nvSpPr>
          <p:cNvPr id="44" name="Google Shape;4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6" name="Google Shape;4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49"/>
        <p:cNvGrpSpPr/>
        <p:nvPr/>
      </p:nvGrpSpPr>
      <p:grpSpPr>
        <a:xfrm>
          <a:off x="0" y="0"/>
          <a:ext cx="0" cy="0"/>
          <a:chOff x="0" y="0"/>
          <a:chExt cx="0" cy="0"/>
        </a:xfrm>
      </p:grpSpPr>
      <p:sp>
        <p:nvSpPr>
          <p:cNvPr id="50" name="Google Shape;5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56"/>
        <p:cNvGrpSpPr/>
        <p:nvPr/>
      </p:nvGrpSpPr>
      <p:grpSpPr>
        <a:xfrm>
          <a:off x="0" y="0"/>
          <a:ext cx="0" cy="0"/>
          <a:chOff x="0" y="0"/>
          <a:chExt cx="0" cy="0"/>
        </a:xfrm>
      </p:grpSpPr>
      <p:sp>
        <p:nvSpPr>
          <p:cNvPr id="57" name="Google Shape;5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9" name="Google Shape;5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1" name="Google Shape;6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65"/>
        <p:cNvGrpSpPr/>
        <p:nvPr/>
      </p:nvGrpSpPr>
      <p:grpSpPr>
        <a:xfrm>
          <a:off x="0" y="0"/>
          <a:ext cx="0" cy="0"/>
          <a:chOff x="0" y="0"/>
          <a:chExt cx="0" cy="0"/>
        </a:xfrm>
      </p:grpSpPr>
      <p:sp>
        <p:nvSpPr>
          <p:cNvPr id="66" name="Google Shape;6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70"/>
        <p:cNvGrpSpPr/>
        <p:nvPr/>
      </p:nvGrpSpPr>
      <p:grpSpPr>
        <a:xfrm>
          <a:off x="0" y="0"/>
          <a:ext cx="0" cy="0"/>
          <a:chOff x="0" y="0"/>
          <a:chExt cx="0" cy="0"/>
        </a:xfrm>
      </p:grpSpPr>
      <p:sp>
        <p:nvSpPr>
          <p:cNvPr id="71" name="Google Shape;71;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3" name="Google Shape;73;p2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7"/>
        <p:cNvGrpSpPr/>
        <p:nvPr/>
      </p:nvGrpSpPr>
      <p:grpSpPr>
        <a:xfrm>
          <a:off x="0" y="0"/>
          <a:ext cx="0" cy="0"/>
          <a:chOff x="0" y="0"/>
          <a:chExt cx="0" cy="0"/>
        </a:xfrm>
      </p:grpSpPr>
      <p:sp>
        <p:nvSpPr>
          <p:cNvPr id="78" name="Google Shape;78;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9"/>
          <p:cNvSpPr>
            <a:spLocks noGrp="1"/>
          </p:cNvSpPr>
          <p:nvPr>
            <p:ph type="pic" idx="2"/>
          </p:nvPr>
        </p:nvSpPr>
        <p:spPr>
          <a:xfrm>
            <a:off x="5183188" y="987425"/>
            <a:ext cx="6172200" cy="4873625"/>
          </a:xfrm>
          <a:prstGeom prst="rect">
            <a:avLst/>
          </a:prstGeom>
          <a:noFill/>
          <a:ln>
            <a:noFill/>
          </a:ln>
        </p:spPr>
      </p:sp>
      <p:sp>
        <p:nvSpPr>
          <p:cNvPr id="80" name="Google Shape;80;p2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4"/>
        <p:cNvGrpSpPr/>
        <p:nvPr/>
      </p:nvGrpSpPr>
      <p:grpSpPr>
        <a:xfrm>
          <a:off x="0" y="0"/>
          <a:ext cx="0" cy="0"/>
          <a:chOff x="0" y="0"/>
          <a:chExt cx="0" cy="0"/>
        </a:xfrm>
      </p:grpSpPr>
      <p:sp>
        <p:nvSpPr>
          <p:cNvPr id="85" name="Google Shape;85;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3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90"/>
        <p:cNvGrpSpPr/>
        <p:nvPr/>
      </p:nvGrpSpPr>
      <p:grpSpPr>
        <a:xfrm>
          <a:off x="0" y="0"/>
          <a:ext cx="0" cy="0"/>
          <a:chOff x="0" y="0"/>
          <a:chExt cx="0" cy="0"/>
        </a:xfrm>
      </p:grpSpPr>
      <p:sp>
        <p:nvSpPr>
          <p:cNvPr id="91" name="Google Shape;91;p3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3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p:nvPr/>
        </p:nvSpPr>
        <p:spPr>
          <a:xfrm>
            <a:off x="890269" y="2875002"/>
            <a:ext cx="4623347" cy="110799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6600" b="1" i="0" u="none" strike="noStrike" cap="none">
                <a:solidFill>
                  <a:srgbClr val="3F3F3F"/>
                </a:solidFill>
                <a:latin typeface="Work Sans"/>
                <a:ea typeface="Work Sans"/>
                <a:cs typeface="Work Sans"/>
                <a:sym typeface="Work Sans"/>
              </a:rPr>
              <a:t>GIVE &amp; GO</a:t>
            </a:r>
            <a:endParaRPr sz="4800" b="1">
              <a:solidFill>
                <a:srgbClr val="3F3F3F"/>
              </a:solidFill>
              <a:latin typeface="Work Sans"/>
              <a:ea typeface="Work Sans"/>
              <a:cs typeface="Work Sans"/>
              <a:sym typeface="Work Sans"/>
            </a:endParaRPr>
          </a:p>
        </p:txBody>
      </p:sp>
      <p:pic>
        <p:nvPicPr>
          <p:cNvPr id="102" name="Google Shape;102;p1"/>
          <p:cNvPicPr preferRelativeResize="0"/>
          <p:nvPr/>
        </p:nvPicPr>
        <p:blipFill rotWithShape="1">
          <a:blip r:embed="rId3">
            <a:alphaModFix/>
          </a:blip>
          <a:srcRect/>
          <a:stretch/>
        </p:blipFill>
        <p:spPr>
          <a:xfrm>
            <a:off x="6096000" y="1268376"/>
            <a:ext cx="4692606" cy="432124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6"/>
        <p:cNvGrpSpPr/>
        <p:nvPr/>
      </p:nvGrpSpPr>
      <p:grpSpPr>
        <a:xfrm>
          <a:off x="0" y="0"/>
          <a:ext cx="0" cy="0"/>
          <a:chOff x="0" y="0"/>
          <a:chExt cx="0" cy="0"/>
        </a:xfrm>
      </p:grpSpPr>
      <p:sp>
        <p:nvSpPr>
          <p:cNvPr id="107" name="Google Shape;107;p2"/>
          <p:cNvSpPr txBox="1"/>
          <p:nvPr/>
        </p:nvSpPr>
        <p:spPr>
          <a:xfrm>
            <a:off x="3766679" y="871821"/>
            <a:ext cx="4658648"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7200">
                <a:solidFill>
                  <a:schemeClr val="lt1"/>
                </a:solidFill>
                <a:latin typeface="Work Sans Light"/>
                <a:ea typeface="Work Sans Light"/>
                <a:cs typeface="Work Sans Light"/>
                <a:sym typeface="Work Sans Light"/>
              </a:rPr>
              <a:t>GIVE &amp; GO</a:t>
            </a:r>
            <a:endParaRPr/>
          </a:p>
        </p:txBody>
      </p:sp>
      <p:cxnSp>
        <p:nvCxnSpPr>
          <p:cNvPr id="108" name="Google Shape;108;p2"/>
          <p:cNvCxnSpPr/>
          <p:nvPr/>
        </p:nvCxnSpPr>
        <p:spPr>
          <a:xfrm>
            <a:off x="5227899" y="3321934"/>
            <a:ext cx="1736203" cy="0"/>
          </a:xfrm>
          <a:prstGeom prst="straightConnector1">
            <a:avLst/>
          </a:prstGeom>
          <a:noFill/>
          <a:ln w="9525" cap="flat" cmpd="sng">
            <a:solidFill>
              <a:schemeClr val="lt1"/>
            </a:solidFill>
            <a:prstDash val="solid"/>
            <a:miter lim="800000"/>
            <a:headEnd type="none" w="sm" len="sm"/>
            <a:tailEnd type="none" w="sm" len="sm"/>
          </a:ln>
        </p:spPr>
      </p:cxnSp>
      <p:sp>
        <p:nvSpPr>
          <p:cNvPr id="109" name="Google Shape;109;p2"/>
          <p:cNvSpPr txBox="1"/>
          <p:nvPr/>
        </p:nvSpPr>
        <p:spPr>
          <a:xfrm>
            <a:off x="4168816" y="3469969"/>
            <a:ext cx="3854368" cy="132343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1600">
                <a:solidFill>
                  <a:schemeClr val="lt1"/>
                </a:solidFill>
                <a:latin typeface="Work Sans Light"/>
                <a:ea typeface="Work Sans Light"/>
                <a:cs typeface="Work Sans Light"/>
                <a:sym typeface="Work Sans Light"/>
              </a:rPr>
              <a:t>Kevin Hernández Guzmán</a:t>
            </a:r>
            <a:endParaRPr/>
          </a:p>
          <a:p>
            <a:pPr marL="0" marR="0" lvl="0" indent="0" algn="ctr" rtl="0">
              <a:spcBef>
                <a:spcPts val="0"/>
              </a:spcBef>
              <a:spcAft>
                <a:spcPts val="0"/>
              </a:spcAft>
              <a:buNone/>
            </a:pPr>
            <a:r>
              <a:rPr lang="es-MX" sz="1600">
                <a:solidFill>
                  <a:schemeClr val="lt1"/>
                </a:solidFill>
                <a:latin typeface="Work Sans Light"/>
                <a:ea typeface="Work Sans Light"/>
                <a:cs typeface="Work Sans Light"/>
                <a:sym typeface="Work Sans Light"/>
              </a:rPr>
              <a:t>Maria Alejandra Quiñones Gómez</a:t>
            </a:r>
            <a:endParaRPr/>
          </a:p>
          <a:p>
            <a:pPr marL="0" marR="0" lvl="0" indent="0" algn="ctr" rtl="0">
              <a:spcBef>
                <a:spcPts val="0"/>
              </a:spcBef>
              <a:spcAft>
                <a:spcPts val="0"/>
              </a:spcAft>
              <a:buNone/>
            </a:pPr>
            <a:r>
              <a:rPr lang="es-MX" sz="1600">
                <a:solidFill>
                  <a:schemeClr val="lt1"/>
                </a:solidFill>
                <a:latin typeface="Work Sans Light"/>
                <a:ea typeface="Work Sans Light"/>
                <a:cs typeface="Work Sans Light"/>
                <a:sym typeface="Work Sans Light"/>
              </a:rPr>
              <a:t>Mateo Moreno López</a:t>
            </a:r>
            <a:endParaRPr/>
          </a:p>
          <a:p>
            <a:pPr marL="0" marR="0" lvl="0" indent="0" algn="ctr" rtl="0">
              <a:spcBef>
                <a:spcPts val="0"/>
              </a:spcBef>
              <a:spcAft>
                <a:spcPts val="0"/>
              </a:spcAft>
              <a:buNone/>
            </a:pPr>
            <a:r>
              <a:rPr lang="es-MX" sz="1600">
                <a:solidFill>
                  <a:schemeClr val="lt1"/>
                </a:solidFill>
                <a:latin typeface="Work Sans Light"/>
                <a:ea typeface="Work Sans Light"/>
                <a:cs typeface="Work Sans Light"/>
                <a:sym typeface="Work Sans Light"/>
              </a:rPr>
              <a:t>Zharick Sofia Rodrigez Gutierrez</a:t>
            </a:r>
            <a:endParaRPr sz="1600">
              <a:solidFill>
                <a:schemeClr val="lt1"/>
              </a:solidFill>
              <a:latin typeface="Work Sans Light"/>
              <a:ea typeface="Work Sans Light"/>
              <a:cs typeface="Work Sans Light"/>
              <a:sym typeface="Work Sans Light"/>
            </a:endParaRPr>
          </a:p>
          <a:p>
            <a:pPr marL="0" marR="0" lvl="0" indent="0" algn="ctr" rtl="0">
              <a:spcBef>
                <a:spcPts val="0"/>
              </a:spcBef>
              <a:spcAft>
                <a:spcPts val="0"/>
              </a:spcAft>
              <a:buNone/>
            </a:pPr>
            <a:r>
              <a:rPr lang="es-MX" sz="1600">
                <a:solidFill>
                  <a:schemeClr val="lt1"/>
                </a:solidFill>
                <a:latin typeface="Work Sans Light"/>
                <a:ea typeface="Work Sans Light"/>
                <a:cs typeface="Work Sans Light"/>
                <a:sym typeface="Work Sans Light"/>
              </a:rPr>
              <a:t>Nicolay Cajamarca Gonzales</a:t>
            </a:r>
            <a:endParaRPr sz="1600">
              <a:solidFill>
                <a:schemeClr val="lt1"/>
              </a:solidFill>
              <a:latin typeface="Work Sans Light"/>
              <a:ea typeface="Work Sans Light"/>
              <a:cs typeface="Work Sans Light"/>
              <a:sym typeface="Work Sans Light"/>
            </a:endParaRPr>
          </a:p>
        </p:txBody>
      </p:sp>
      <p:sp>
        <p:nvSpPr>
          <p:cNvPr id="110" name="Google Shape;110;p2"/>
          <p:cNvSpPr txBox="1"/>
          <p:nvPr/>
        </p:nvSpPr>
        <p:spPr>
          <a:xfrm>
            <a:off x="1068888" y="5279998"/>
            <a:ext cx="10054224" cy="107721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Servicio Nacional de Aprendizaje –SENA, Centro de Electricidad Electrónica y Telecomunicaciones</a:t>
            </a:r>
            <a:endParaRPr/>
          </a:p>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Tecnólogo en Análisis y Desarrollo de Software - ADSO, Tercer Trimestre</a:t>
            </a:r>
            <a:endParaRPr/>
          </a:p>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Instructor Albeiro Ramos</a:t>
            </a:r>
            <a:endParaRPr/>
          </a:p>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Bogotá, 4 de febrero de 2026</a:t>
            </a:r>
            <a:endParaRPr sz="1600" b="1">
              <a:solidFill>
                <a:schemeClr val="lt1"/>
              </a:solidFill>
              <a:latin typeface="Work Sans Light"/>
              <a:ea typeface="Work Sans Light"/>
              <a:cs typeface="Work Sans Light"/>
              <a:sym typeface="Work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4"/>
        <p:cNvGrpSpPr/>
        <p:nvPr/>
      </p:nvGrpSpPr>
      <p:grpSpPr>
        <a:xfrm>
          <a:off x="0" y="0"/>
          <a:ext cx="0" cy="0"/>
          <a:chOff x="0" y="0"/>
          <a:chExt cx="0" cy="0"/>
        </a:xfrm>
      </p:grpSpPr>
      <p:pic>
        <p:nvPicPr>
          <p:cNvPr id="115" name="Google Shape;115;p3"/>
          <p:cNvPicPr preferRelativeResize="0"/>
          <p:nvPr/>
        </p:nvPicPr>
        <p:blipFill rotWithShape="1">
          <a:blip r:embed="rId4">
            <a:alphaModFix/>
          </a:blip>
          <a:srcRect/>
          <a:stretch/>
        </p:blipFill>
        <p:spPr>
          <a:xfrm>
            <a:off x="3657599" y="-68162"/>
            <a:ext cx="10491486" cy="6994324"/>
          </a:xfrm>
          <a:prstGeom prst="rect">
            <a:avLst/>
          </a:prstGeom>
          <a:noFill/>
          <a:ln>
            <a:noFill/>
          </a:ln>
        </p:spPr>
      </p:pic>
      <p:sp>
        <p:nvSpPr>
          <p:cNvPr id="116" name="Google Shape;116;p3"/>
          <p:cNvSpPr/>
          <p:nvPr/>
        </p:nvSpPr>
        <p:spPr>
          <a:xfrm>
            <a:off x="1081268" y="1897927"/>
            <a:ext cx="2939970" cy="347242"/>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 name="Google Shape;117;p3"/>
          <p:cNvSpPr txBox="1"/>
          <p:nvPr/>
        </p:nvSpPr>
        <p:spPr>
          <a:xfrm>
            <a:off x="1106320" y="1606149"/>
            <a:ext cx="3514740"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Light"/>
              <a:buNone/>
            </a:pPr>
            <a:r>
              <a:rPr lang="es-MX" sz="3600">
                <a:solidFill>
                  <a:srgbClr val="38AA00"/>
                </a:solidFill>
                <a:latin typeface="Work Sans Light"/>
                <a:ea typeface="Work Sans Light"/>
                <a:cs typeface="Work Sans Light"/>
                <a:sym typeface="Work Sans Light"/>
              </a:rPr>
              <a:t>Introducción</a:t>
            </a:r>
            <a:endParaRPr/>
          </a:p>
        </p:txBody>
      </p:sp>
      <p:sp>
        <p:nvSpPr>
          <p:cNvPr id="118" name="Google Shape;118;p3"/>
          <p:cNvSpPr txBox="1"/>
          <p:nvPr/>
        </p:nvSpPr>
        <p:spPr>
          <a:xfrm>
            <a:off x="1081268" y="2359827"/>
            <a:ext cx="3854368" cy="30469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a:solidFill>
                  <a:schemeClr val="dk1"/>
                </a:solidFill>
                <a:latin typeface="Work Sans Light"/>
                <a:ea typeface="Work Sans Light"/>
                <a:cs typeface="Work Sans Light"/>
                <a:sym typeface="Work Sans Light"/>
              </a:rPr>
              <a:t>En esta presentación esta la información de todo o que tendrá nuestro sistema basado en una red de voluntariado en el que cualquier organización puede ser participe en la localidad de Kennedy.</a:t>
            </a:r>
            <a:endParaRPr/>
          </a:p>
          <a:p>
            <a:pPr marL="0" marR="0" lvl="0" indent="0" algn="l" rtl="0">
              <a:spcBef>
                <a:spcPts val="0"/>
              </a:spcBef>
              <a:spcAft>
                <a:spcPts val="0"/>
              </a:spcAft>
              <a:buNone/>
            </a:pPr>
            <a:endParaRPr sz="160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r>
              <a:rPr lang="es-MX" sz="1600">
                <a:solidFill>
                  <a:schemeClr val="dk1"/>
                </a:solidFill>
                <a:latin typeface="Work Sans Light"/>
                <a:ea typeface="Work Sans Light"/>
                <a:cs typeface="Work Sans Light"/>
                <a:sym typeface="Work Sans Light"/>
              </a:rPr>
              <a:t>Junto con el problema, objetivos específicos, objetivo general, alcance del proyecto, justificación y delimitaciones demostramos la importancia de este sistema.</a:t>
            </a:r>
            <a:endParaRPr sz="1600">
              <a:solidFill>
                <a:schemeClr val="dk1"/>
              </a:solidFill>
              <a:latin typeface="Work Sans Light"/>
              <a:ea typeface="Work Sans Light"/>
              <a:cs typeface="Work Sans Light"/>
              <a:sym typeface="Work Sa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2"/>
        <p:cNvGrpSpPr/>
        <p:nvPr/>
      </p:nvGrpSpPr>
      <p:grpSpPr>
        <a:xfrm>
          <a:off x="0" y="0"/>
          <a:ext cx="0" cy="0"/>
          <a:chOff x="0" y="0"/>
          <a:chExt cx="0" cy="0"/>
        </a:xfrm>
      </p:grpSpPr>
      <p:sp>
        <p:nvSpPr>
          <p:cNvPr id="123" name="Google Shape;123;p4"/>
          <p:cNvSpPr txBox="1"/>
          <p:nvPr/>
        </p:nvSpPr>
        <p:spPr>
          <a:xfrm>
            <a:off x="456236" y="416689"/>
            <a:ext cx="3645864" cy="7415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4400"/>
              <a:buFont typeface="Work Sans Medium"/>
              <a:buNone/>
            </a:pPr>
            <a:r>
              <a:rPr lang="es-MX" sz="4400">
                <a:solidFill>
                  <a:schemeClr val="lt1"/>
                </a:solidFill>
                <a:latin typeface="Work Sans Medium"/>
                <a:ea typeface="Work Sans Medium"/>
                <a:cs typeface="Work Sans Medium"/>
                <a:sym typeface="Work Sans Medium"/>
              </a:rPr>
              <a:t>GIVE &amp; GO</a:t>
            </a:r>
            <a:endParaRPr/>
          </a:p>
        </p:txBody>
      </p:sp>
      <p:sp>
        <p:nvSpPr>
          <p:cNvPr id="124" name="Google Shape;124;p4"/>
          <p:cNvSpPr txBox="1"/>
          <p:nvPr/>
        </p:nvSpPr>
        <p:spPr>
          <a:xfrm>
            <a:off x="6653014" y="2489547"/>
            <a:ext cx="4547336" cy="30469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3200" b="1">
                <a:solidFill>
                  <a:schemeClr val="dk1"/>
                </a:solidFill>
                <a:latin typeface="Work Sans Light"/>
                <a:ea typeface="Work Sans Light"/>
                <a:cs typeface="Work Sans Light"/>
                <a:sym typeface="Work Sans Light"/>
              </a:rPr>
              <a:t>Problema</a:t>
            </a:r>
            <a:endParaRPr/>
          </a:p>
          <a:p>
            <a:pPr marL="0" marR="0" lvl="0" indent="0" algn="l" rtl="0">
              <a:spcBef>
                <a:spcPts val="0"/>
              </a:spcBef>
              <a:spcAft>
                <a:spcPts val="0"/>
              </a:spcAft>
              <a:buNone/>
            </a:pPr>
            <a:r>
              <a:rPr lang="es-MX" sz="3200" b="1">
                <a:solidFill>
                  <a:schemeClr val="dk1"/>
                </a:solidFill>
                <a:latin typeface="Work Sans Light"/>
                <a:ea typeface="Work Sans Light"/>
                <a:cs typeface="Work Sans Light"/>
                <a:sym typeface="Work Sans Light"/>
              </a:rPr>
              <a:t>Objetivos</a:t>
            </a:r>
            <a:endParaRPr/>
          </a:p>
          <a:p>
            <a:pPr marL="0" marR="0" lvl="0" indent="0" algn="l" rtl="0">
              <a:spcBef>
                <a:spcPts val="0"/>
              </a:spcBef>
              <a:spcAft>
                <a:spcPts val="0"/>
              </a:spcAft>
              <a:buNone/>
            </a:pPr>
            <a:r>
              <a:rPr lang="es-MX" sz="3200" b="1">
                <a:solidFill>
                  <a:schemeClr val="dk1"/>
                </a:solidFill>
                <a:latin typeface="Work Sans Light"/>
                <a:ea typeface="Work Sans Light"/>
                <a:cs typeface="Work Sans Light"/>
                <a:sym typeface="Work Sans Light"/>
              </a:rPr>
              <a:t>Justificación</a:t>
            </a:r>
            <a:endParaRPr/>
          </a:p>
          <a:p>
            <a:pPr marL="0" marR="0" lvl="0" indent="0" algn="l" rtl="0">
              <a:spcBef>
                <a:spcPts val="0"/>
              </a:spcBef>
              <a:spcAft>
                <a:spcPts val="0"/>
              </a:spcAft>
              <a:buNone/>
            </a:pPr>
            <a:r>
              <a:rPr lang="es-MX" sz="3200" b="1">
                <a:solidFill>
                  <a:schemeClr val="dk1"/>
                </a:solidFill>
                <a:latin typeface="Work Sans Light"/>
                <a:ea typeface="Work Sans Light"/>
                <a:cs typeface="Work Sans Light"/>
                <a:sym typeface="Work Sans Light"/>
              </a:rPr>
              <a:t>Alcance</a:t>
            </a:r>
            <a:endParaRPr/>
          </a:p>
          <a:p>
            <a:pPr marL="0" marR="0" lvl="0" indent="0" algn="l" rtl="0">
              <a:spcBef>
                <a:spcPts val="0"/>
              </a:spcBef>
              <a:spcAft>
                <a:spcPts val="0"/>
              </a:spcAft>
              <a:buNone/>
            </a:pPr>
            <a:r>
              <a:rPr lang="es-MX" sz="3200" b="1">
                <a:solidFill>
                  <a:schemeClr val="dk1"/>
                </a:solidFill>
                <a:latin typeface="Work Sans Light"/>
                <a:ea typeface="Work Sans Light"/>
                <a:cs typeface="Work Sans Light"/>
                <a:sym typeface="Work Sans Light"/>
              </a:rPr>
              <a:t>Delimitación</a:t>
            </a:r>
            <a:endParaRPr/>
          </a:p>
          <a:p>
            <a:pPr marL="0" marR="0" lvl="0" indent="0" algn="l" rtl="0">
              <a:spcBef>
                <a:spcPts val="0"/>
              </a:spcBef>
              <a:spcAft>
                <a:spcPts val="0"/>
              </a:spcAft>
              <a:buNone/>
            </a:pPr>
            <a:r>
              <a:rPr lang="es-MX" sz="3200" b="1">
                <a:solidFill>
                  <a:schemeClr val="dk1"/>
                </a:solidFill>
                <a:latin typeface="Work Sans Light"/>
                <a:ea typeface="Work Sans Light"/>
                <a:cs typeface="Work Sans Light"/>
                <a:sym typeface="Work Sans Light"/>
              </a:rPr>
              <a:t>Entregables Trimestre</a:t>
            </a:r>
            <a:endParaRPr/>
          </a:p>
        </p:txBody>
      </p:sp>
      <p:pic>
        <p:nvPicPr>
          <p:cNvPr id="125" name="Google Shape;125;p4"/>
          <p:cNvPicPr preferRelativeResize="0"/>
          <p:nvPr/>
        </p:nvPicPr>
        <p:blipFill rotWithShape="1">
          <a:blip r:embed="rId4">
            <a:alphaModFix/>
          </a:blip>
          <a:srcRect/>
          <a:stretch/>
        </p:blipFill>
        <p:spPr>
          <a:xfrm>
            <a:off x="1314494" y="2314739"/>
            <a:ext cx="3739235" cy="34433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Problema</a:t>
            </a:r>
            <a:endParaRPr/>
          </a:p>
        </p:txBody>
      </p:sp>
      <p:sp>
        <p:nvSpPr>
          <p:cNvPr id="132" name="Google Shape;132;p5"/>
          <p:cNvSpPr txBox="1"/>
          <p:nvPr/>
        </p:nvSpPr>
        <p:spPr>
          <a:xfrm>
            <a:off x="372353" y="1667521"/>
            <a:ext cx="5317247"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dirty="0">
                <a:solidFill>
                  <a:schemeClr val="dk1"/>
                </a:solidFill>
                <a:latin typeface="Work Sans Light"/>
                <a:ea typeface="Work Sans Light"/>
                <a:cs typeface="Work Sans Light"/>
                <a:sym typeface="Work Sans Light"/>
              </a:rPr>
              <a:t>La empresa GIVE &amp; GO  esta enfocada en la localidad de Kennedy, queriendo ser participe de una red de voluntariados en la cual todas las organizaciones que prestan diversos servicios puedan estar en un solo lugar  </a:t>
            </a:r>
            <a:endParaRPr dirty="0"/>
          </a:p>
        </p:txBody>
      </p:sp>
      <p:pic>
        <p:nvPicPr>
          <p:cNvPr id="133" name="Google Shape;133;p5"/>
          <p:cNvPicPr preferRelativeResize="0"/>
          <p:nvPr/>
        </p:nvPicPr>
        <p:blipFill rotWithShape="1">
          <a:blip r:embed="rId3">
            <a:alphaModFix/>
          </a:blip>
          <a:srcRect/>
          <a:stretch/>
        </p:blipFill>
        <p:spPr>
          <a:xfrm>
            <a:off x="9823495" y="331798"/>
            <a:ext cx="958805" cy="882928"/>
          </a:xfrm>
          <a:prstGeom prst="rect">
            <a:avLst/>
          </a:prstGeom>
          <a:noFill/>
          <a:ln>
            <a:noFill/>
          </a:ln>
        </p:spPr>
      </p:pic>
      <p:sp>
        <p:nvSpPr>
          <p:cNvPr id="134" name="Google Shape;134;p5"/>
          <p:cNvSpPr txBox="1"/>
          <p:nvPr/>
        </p:nvSpPr>
        <p:spPr>
          <a:xfrm>
            <a:off x="456236" y="3205321"/>
            <a:ext cx="5317247"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dirty="0">
                <a:solidFill>
                  <a:schemeClr val="dk1"/>
                </a:solidFill>
                <a:latin typeface="Work Sans Light"/>
                <a:ea typeface="Work Sans Light"/>
                <a:cs typeface="Work Sans Light"/>
                <a:sym typeface="Work Sans Light"/>
              </a:rPr>
              <a:t>Nuestro sistema es participe de 7 procesos los cuales son </a:t>
            </a:r>
            <a:endParaRPr dirty="0"/>
          </a:p>
          <a:p>
            <a:pPr marL="285750" marR="0" lvl="0" indent="-285750" algn="l" rtl="0">
              <a:spcBef>
                <a:spcPts val="0"/>
              </a:spcBef>
              <a:spcAft>
                <a:spcPts val="0"/>
              </a:spcAft>
              <a:buClr>
                <a:schemeClr val="dk1"/>
              </a:buClr>
              <a:buSzPts val="1600"/>
              <a:buFont typeface="Arial"/>
              <a:buChar char="•"/>
            </a:pPr>
            <a:r>
              <a:rPr lang="es-MX" sz="1600" dirty="0">
                <a:solidFill>
                  <a:schemeClr val="dk1"/>
                </a:solidFill>
                <a:latin typeface="Work Sans Light"/>
                <a:ea typeface="Work Sans Light"/>
                <a:cs typeface="Work Sans Light"/>
                <a:sym typeface="Work Sans Light"/>
              </a:rPr>
              <a:t>Publicar anuncio</a:t>
            </a:r>
            <a:endParaRPr dirty="0"/>
          </a:p>
          <a:p>
            <a:pPr marL="285750" marR="0" lvl="0" indent="-285750" algn="l" rtl="0">
              <a:spcBef>
                <a:spcPts val="0"/>
              </a:spcBef>
              <a:spcAft>
                <a:spcPts val="0"/>
              </a:spcAft>
              <a:buClr>
                <a:schemeClr val="dk1"/>
              </a:buClr>
              <a:buSzPts val="1600"/>
              <a:buFont typeface="Arial"/>
              <a:buChar char="•"/>
            </a:pPr>
            <a:r>
              <a:rPr lang="es-MX" sz="1600" dirty="0">
                <a:solidFill>
                  <a:schemeClr val="dk1"/>
                </a:solidFill>
                <a:latin typeface="Work Sans Light"/>
                <a:ea typeface="Work Sans Light"/>
                <a:cs typeface="Work Sans Light"/>
                <a:sym typeface="Work Sans Light"/>
              </a:rPr>
              <a:t>Donaciones</a:t>
            </a:r>
            <a:endParaRPr dirty="0"/>
          </a:p>
          <a:p>
            <a:pPr marL="285750" marR="0" lvl="0" indent="-285750" algn="l" rtl="0">
              <a:spcBef>
                <a:spcPts val="0"/>
              </a:spcBef>
              <a:spcAft>
                <a:spcPts val="0"/>
              </a:spcAft>
              <a:buClr>
                <a:schemeClr val="dk1"/>
              </a:buClr>
              <a:buSzPts val="1600"/>
              <a:buFont typeface="Arial"/>
              <a:buChar char="•"/>
            </a:pPr>
            <a:r>
              <a:rPr lang="es-MX" sz="1600" dirty="0">
                <a:solidFill>
                  <a:schemeClr val="dk1"/>
                </a:solidFill>
                <a:latin typeface="Work Sans Light"/>
                <a:ea typeface="Work Sans Light"/>
                <a:cs typeface="Work Sans Light"/>
                <a:sym typeface="Work Sans Light"/>
              </a:rPr>
              <a:t>Formulario de voluntario</a:t>
            </a:r>
            <a:endParaRPr dirty="0"/>
          </a:p>
          <a:p>
            <a:pPr marL="285750" marR="0" lvl="0" indent="-285750" algn="l" rtl="0">
              <a:spcBef>
                <a:spcPts val="0"/>
              </a:spcBef>
              <a:spcAft>
                <a:spcPts val="0"/>
              </a:spcAft>
              <a:buClr>
                <a:schemeClr val="dk1"/>
              </a:buClr>
              <a:buSzPts val="1600"/>
              <a:buFont typeface="Arial"/>
              <a:buChar char="•"/>
            </a:pPr>
            <a:r>
              <a:rPr lang="es-MX" sz="1600" dirty="0">
                <a:solidFill>
                  <a:schemeClr val="dk1"/>
                </a:solidFill>
                <a:latin typeface="Work Sans Light"/>
                <a:ea typeface="Work Sans Light"/>
                <a:cs typeface="Work Sans Light"/>
                <a:sym typeface="Work Sans Light"/>
              </a:rPr>
              <a:t>Formulario de solicitante</a:t>
            </a:r>
            <a:endParaRPr dirty="0"/>
          </a:p>
          <a:p>
            <a:pPr marL="285750" marR="0" lvl="0" indent="-285750" algn="l" rtl="0">
              <a:spcBef>
                <a:spcPts val="0"/>
              </a:spcBef>
              <a:spcAft>
                <a:spcPts val="0"/>
              </a:spcAft>
              <a:buClr>
                <a:schemeClr val="dk1"/>
              </a:buClr>
              <a:buSzPts val="1600"/>
              <a:buFont typeface="Arial"/>
              <a:buChar char="•"/>
            </a:pPr>
            <a:r>
              <a:rPr lang="es-MX" sz="1600" dirty="0">
                <a:solidFill>
                  <a:schemeClr val="dk1"/>
                </a:solidFill>
                <a:latin typeface="Work Sans Light"/>
                <a:ea typeface="Work Sans Light"/>
                <a:cs typeface="Work Sans Light"/>
                <a:sym typeface="Work Sans Light"/>
              </a:rPr>
              <a:t>Revisión </a:t>
            </a:r>
            <a:endParaRPr dirty="0"/>
          </a:p>
          <a:p>
            <a:pPr marL="285750" marR="0" lvl="0" indent="-285750" algn="l" rtl="0">
              <a:spcBef>
                <a:spcPts val="0"/>
              </a:spcBef>
              <a:spcAft>
                <a:spcPts val="0"/>
              </a:spcAft>
              <a:buClr>
                <a:schemeClr val="dk1"/>
              </a:buClr>
              <a:buSzPts val="1600"/>
              <a:buFont typeface="Arial"/>
              <a:buChar char="•"/>
            </a:pPr>
            <a:r>
              <a:rPr lang="es-MX" sz="1600" dirty="0">
                <a:solidFill>
                  <a:schemeClr val="dk1"/>
                </a:solidFill>
                <a:latin typeface="Work Sans Light"/>
                <a:ea typeface="Work Sans Light"/>
                <a:cs typeface="Work Sans Light"/>
                <a:sym typeface="Work Sans Light"/>
              </a:rPr>
              <a:t>Conexión directa</a:t>
            </a:r>
            <a:endParaRPr dirty="0"/>
          </a:p>
        </p:txBody>
      </p:sp>
      <p:sp>
        <p:nvSpPr>
          <p:cNvPr id="135" name="Google Shape;135;p5"/>
          <p:cNvSpPr txBox="1"/>
          <p:nvPr/>
        </p:nvSpPr>
        <p:spPr>
          <a:xfrm>
            <a:off x="6096000" y="1657361"/>
            <a:ext cx="5317247"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dirty="0">
                <a:solidFill>
                  <a:schemeClr val="dk1"/>
                </a:solidFill>
                <a:latin typeface="Work Sans Light"/>
                <a:ea typeface="Work Sans Light"/>
                <a:cs typeface="Work Sans Light"/>
                <a:sym typeface="Work Sans Light"/>
              </a:rPr>
              <a:t>Utilizando técnicas de recolección como entrevistas y encuestas, llegamos a la conclusión de que muchas personas no conocen varios de los sistemas de voluntarios en la localidad de Kennedy así que teniendo en cuenta lo anterior queremos que ellas sean mas visibles.</a:t>
            </a:r>
            <a:endParaRPr dirty="0"/>
          </a:p>
        </p:txBody>
      </p:sp>
      <p:sp>
        <p:nvSpPr>
          <p:cNvPr id="7" name="Google Shape;135;p5">
            <a:extLst>
              <a:ext uri="{FF2B5EF4-FFF2-40B4-BE49-F238E27FC236}">
                <a16:creationId xmlns:a16="http://schemas.microsoft.com/office/drawing/2014/main" id="{85BDFB37-5E79-4CC2-A2E1-EA5C82B85FCE}"/>
              </a:ext>
            </a:extLst>
          </p:cNvPr>
          <p:cNvSpPr txBox="1"/>
          <p:nvPr/>
        </p:nvSpPr>
        <p:spPr>
          <a:xfrm>
            <a:off x="6096000" y="3524538"/>
            <a:ext cx="5572125" cy="3508612"/>
          </a:xfrm>
          <a:prstGeom prst="rect">
            <a:avLst/>
          </a:prstGeom>
          <a:noFill/>
          <a:ln>
            <a:noFill/>
          </a:ln>
        </p:spPr>
        <p:txBody>
          <a:bodyPr spcFirstLastPara="1" wrap="square" lIns="91425" tIns="45700" rIns="91425" bIns="45700" anchor="t" anchorCtr="0">
            <a:spAutoFit/>
          </a:bodyPr>
          <a:lstStyle/>
          <a:p>
            <a:pPr lvl="0"/>
            <a:r>
              <a:rPr lang="es-ES" sz="1600" dirty="0">
                <a:solidFill>
                  <a:schemeClr val="dk1"/>
                </a:solidFill>
                <a:latin typeface="Work Sans Light"/>
              </a:rPr>
              <a:t>En los procesos encontramos necesidades como lo son las siguientes:</a:t>
            </a:r>
          </a:p>
          <a:p>
            <a:pPr marL="285750" indent="-285750">
              <a:buClr>
                <a:schemeClr val="dk1"/>
              </a:buClr>
              <a:buSzPts val="1600"/>
              <a:buFont typeface="Arial"/>
              <a:buChar char="•"/>
            </a:pPr>
            <a:r>
              <a:rPr lang="es-ES" sz="1600" b="1" dirty="0">
                <a:solidFill>
                  <a:schemeClr val="dk1"/>
                </a:solidFill>
                <a:latin typeface="Work Sans Light"/>
              </a:rPr>
              <a:t>Publicar anuncio</a:t>
            </a:r>
            <a:r>
              <a:rPr lang="es-ES" sz="1600" dirty="0">
                <a:solidFill>
                  <a:schemeClr val="dk1"/>
                </a:solidFill>
                <a:latin typeface="Work Sans Light"/>
              </a:rPr>
              <a:t>: En esta sección el usuario podrá generar un anuncio teniendo en cuenta la necesidad que el tenga sea de manera urgente o no.</a:t>
            </a:r>
          </a:p>
          <a:p>
            <a:pPr marL="285750" indent="-285750">
              <a:buClr>
                <a:schemeClr val="dk1"/>
              </a:buClr>
              <a:buSzPts val="1600"/>
              <a:buFont typeface="Arial"/>
              <a:buChar char="•"/>
            </a:pPr>
            <a:endParaRPr lang="es-ES" sz="1600" dirty="0">
              <a:solidFill>
                <a:schemeClr val="dk1"/>
              </a:solidFill>
              <a:latin typeface="Work Sans Light"/>
            </a:endParaRPr>
          </a:p>
          <a:p>
            <a:pPr marL="285750" lvl="3" indent="-285750">
              <a:buClr>
                <a:schemeClr val="dk1"/>
              </a:buClr>
              <a:buSzPts val="1600"/>
              <a:buFont typeface="Arial"/>
              <a:buChar char="•"/>
            </a:pPr>
            <a:r>
              <a:rPr lang="es-ES" sz="1600" b="1" dirty="0">
                <a:solidFill>
                  <a:schemeClr val="dk1"/>
                </a:solidFill>
                <a:latin typeface="Work Sans Light"/>
              </a:rPr>
              <a:t>Donaciones:</a:t>
            </a:r>
            <a:r>
              <a:rPr lang="es-ES" sz="1600" dirty="0">
                <a:solidFill>
                  <a:schemeClr val="dk1"/>
                </a:solidFill>
                <a:latin typeface="Work Sans Light"/>
              </a:rPr>
              <a:t> </a:t>
            </a:r>
          </a:p>
          <a:p>
            <a:pPr marL="285750" lvl="5"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Usuario accede al módulo de donaciones.</a:t>
            </a:r>
          </a:p>
          <a:p>
            <a:pPr marL="285750" lvl="4"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Sistema muestra opciones de donación disponibles.</a:t>
            </a:r>
          </a:p>
          <a:p>
            <a:pPr marL="285750" lvl="4"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Donador selecciona tipo de aporte.</a:t>
            </a:r>
          </a:p>
          <a:p>
            <a:pPr marL="285750" lvl="4"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Puede elegir artículos o dinero.</a:t>
            </a:r>
          </a:p>
          <a:p>
            <a:pPr marL="285750" lvl="4"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Plataforma habilita pago electrónico o registro.</a:t>
            </a:r>
          </a:p>
          <a:p>
            <a:pPr marL="285750" indent="-285750">
              <a:buClr>
                <a:schemeClr val="dk1"/>
              </a:buClr>
              <a:buSzPts val="1600"/>
              <a:buFont typeface="Arial"/>
              <a:buChar char="•"/>
            </a:pPr>
            <a:endParaRPr lang="es-ES" sz="1600" dirty="0">
              <a:solidFill>
                <a:schemeClr val="dk1"/>
              </a:solidFill>
              <a:latin typeface="Work Sans Light"/>
            </a:endParaRPr>
          </a:p>
          <a:p>
            <a:pPr marL="285750" lvl="0" indent="-285750">
              <a:buFont typeface="Arial" panose="020B0604020202020204" pitchFamily="34" charset="0"/>
              <a:buChar char="•"/>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9"/>
        <p:cNvGrpSpPr/>
        <p:nvPr/>
      </p:nvGrpSpPr>
      <p:grpSpPr>
        <a:xfrm>
          <a:off x="0" y="0"/>
          <a:ext cx="0" cy="0"/>
          <a:chOff x="0" y="0"/>
          <a:chExt cx="0" cy="0"/>
        </a:xfrm>
      </p:grpSpPr>
      <p:sp>
        <p:nvSpPr>
          <p:cNvPr id="140" name="Google Shape;140;p6"/>
          <p:cNvSpPr txBox="1"/>
          <p:nvPr/>
        </p:nvSpPr>
        <p:spPr>
          <a:xfrm>
            <a:off x="456236" y="457723"/>
            <a:ext cx="10515600"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MX" sz="4400">
                <a:solidFill>
                  <a:srgbClr val="0C0C0C"/>
                </a:solidFill>
                <a:latin typeface="Work Sans Medium"/>
                <a:ea typeface="Work Sans Medium"/>
                <a:cs typeface="Work Sans Medium"/>
                <a:sym typeface="Work Sans Medium"/>
              </a:rPr>
              <a:t>Problema</a:t>
            </a:r>
            <a:endParaRPr/>
          </a:p>
        </p:txBody>
      </p:sp>
      <p:sp>
        <p:nvSpPr>
          <p:cNvPr id="141" name="Google Shape;141;p6"/>
          <p:cNvSpPr txBox="1"/>
          <p:nvPr/>
        </p:nvSpPr>
        <p:spPr>
          <a:xfrm>
            <a:off x="8694348" y="508463"/>
            <a:ext cx="1080000" cy="54000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600">
                <a:solidFill>
                  <a:schemeClr val="dk1"/>
                </a:solidFill>
                <a:latin typeface="Work Sans Light"/>
                <a:ea typeface="Work Sans Light"/>
                <a:cs typeface="Work Sans Light"/>
                <a:sym typeface="Work Sans Light"/>
              </a:rPr>
              <a:t>Logo Sistema</a:t>
            </a:r>
            <a:endParaRPr sz="1600">
              <a:solidFill>
                <a:schemeClr val="dk1"/>
              </a:solidFill>
              <a:latin typeface="Work Sans Light"/>
              <a:ea typeface="Work Sans Light"/>
              <a:cs typeface="Work Sans Light"/>
              <a:sym typeface="Work Sans Light"/>
            </a:endParaRPr>
          </a:p>
        </p:txBody>
      </p:sp>
      <p:sp>
        <p:nvSpPr>
          <p:cNvPr id="142" name="Google Shape;142;p6"/>
          <p:cNvSpPr txBox="1"/>
          <p:nvPr/>
        </p:nvSpPr>
        <p:spPr>
          <a:xfrm>
            <a:off x="9775121" y="510142"/>
            <a:ext cx="1080000" cy="54000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600">
                <a:solidFill>
                  <a:schemeClr val="dk1"/>
                </a:solidFill>
                <a:latin typeface="Work Sans Light"/>
                <a:ea typeface="Work Sans Light"/>
                <a:cs typeface="Work Sans Light"/>
                <a:sym typeface="Work Sans Light"/>
              </a:rPr>
              <a:t>Logo Empresa</a:t>
            </a:r>
            <a:endParaRPr/>
          </a:p>
        </p:txBody>
      </p:sp>
      <p:sp>
        <p:nvSpPr>
          <p:cNvPr id="7" name="Google Shape;135;p5">
            <a:extLst>
              <a:ext uri="{FF2B5EF4-FFF2-40B4-BE49-F238E27FC236}">
                <a16:creationId xmlns:a16="http://schemas.microsoft.com/office/drawing/2014/main" id="{92FCB9AC-C4BE-4EF6-91D8-89A7E83B00F0}"/>
              </a:ext>
            </a:extLst>
          </p:cNvPr>
          <p:cNvSpPr txBox="1"/>
          <p:nvPr/>
        </p:nvSpPr>
        <p:spPr>
          <a:xfrm>
            <a:off x="456236" y="1444100"/>
            <a:ext cx="5572125" cy="5293716"/>
          </a:xfrm>
          <a:prstGeom prst="rect">
            <a:avLst/>
          </a:prstGeom>
          <a:noFill/>
          <a:ln>
            <a:noFill/>
          </a:ln>
        </p:spPr>
        <p:txBody>
          <a:bodyPr spcFirstLastPara="1" wrap="square" lIns="91425" tIns="45700" rIns="91425" bIns="45700" anchor="t" anchorCtr="0">
            <a:spAutoFit/>
          </a:bodyPr>
          <a:lstStyle/>
          <a:p>
            <a:pPr lvl="0"/>
            <a:r>
              <a:rPr lang="es-ES" sz="1600" dirty="0">
                <a:solidFill>
                  <a:schemeClr val="dk1"/>
                </a:solidFill>
                <a:latin typeface="Work Sans Light"/>
              </a:rPr>
              <a:t>En los procesos encontramos necesidades como lo son las siguientes:</a:t>
            </a:r>
          </a:p>
          <a:p>
            <a:pPr lvl="0"/>
            <a:endParaRPr lang="es-ES" sz="1600" dirty="0">
              <a:solidFill>
                <a:schemeClr val="dk1"/>
              </a:solidFill>
              <a:latin typeface="Work Sans Light"/>
            </a:endParaRPr>
          </a:p>
          <a:p>
            <a:pPr marL="285750" indent="-285750" eaLnBrk="0" fontAlgn="base" hangingPunct="0">
              <a:spcBef>
                <a:spcPct val="0"/>
              </a:spcBef>
              <a:spcAft>
                <a:spcPct val="0"/>
              </a:spcAft>
              <a:buClrTx/>
              <a:buFontTx/>
              <a:buChar char="•"/>
            </a:pPr>
            <a:r>
              <a:rPr lang="es-CO" sz="1600" b="1" dirty="0">
                <a:solidFill>
                  <a:schemeClr val="dk1"/>
                </a:solidFill>
                <a:latin typeface="Work Sans Light"/>
              </a:rPr>
              <a:t>Registro de Voluntarios</a:t>
            </a:r>
          </a:p>
          <a:p>
            <a:pPr marL="285750" lvl="4"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Usuario ingresa al módulo de registro.</a:t>
            </a:r>
          </a:p>
          <a:p>
            <a:pPr marL="285750" lvl="4"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Plataforma muestra formulario digital interactivo.</a:t>
            </a:r>
          </a:p>
          <a:p>
            <a:pPr marL="285750" lvl="4"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Voluntario diligencia datos personales solicitados.</a:t>
            </a:r>
          </a:p>
          <a:p>
            <a:pPr marL="285750" lvl="4"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Sistema valida campos obligatorios ingresados.</a:t>
            </a:r>
          </a:p>
          <a:p>
            <a:pPr marL="285750" lvl="4"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Información se envía a base de datos.</a:t>
            </a:r>
          </a:p>
          <a:p>
            <a:pPr marL="285750" lvl="4"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Registro queda disponible para evaluación.</a:t>
            </a:r>
          </a:p>
          <a:p>
            <a:pPr marL="285750" indent="-285750">
              <a:buClr>
                <a:schemeClr val="dk1"/>
              </a:buClr>
              <a:buSzPts val="1600"/>
              <a:buFont typeface="Arial"/>
              <a:buChar char="•"/>
            </a:pPr>
            <a:endParaRPr lang="es-CO" sz="2000" dirty="0"/>
          </a:p>
          <a:p>
            <a:pPr marL="285750" lvl="0" indent="-285750" eaLnBrk="0" fontAlgn="base" hangingPunct="0">
              <a:spcBef>
                <a:spcPct val="0"/>
              </a:spcBef>
              <a:spcAft>
                <a:spcPct val="0"/>
              </a:spcAft>
              <a:buClrTx/>
              <a:buFontTx/>
              <a:buChar char="•"/>
            </a:pPr>
            <a:r>
              <a:rPr lang="es-CO" sz="1600" b="1" dirty="0">
                <a:solidFill>
                  <a:schemeClr val="dk1"/>
                </a:solidFill>
                <a:latin typeface="Work Sans Light"/>
              </a:rPr>
              <a:t>Registro de Solicitantes</a:t>
            </a:r>
            <a:r>
              <a:rPr lang="es-ES" sz="1600" b="1" dirty="0">
                <a:solidFill>
                  <a:schemeClr val="dk1"/>
                </a:solidFill>
                <a:latin typeface="Work Sans Light"/>
              </a:rPr>
              <a:t>: </a:t>
            </a:r>
          </a:p>
          <a:p>
            <a:pPr marL="285750" lvl="4"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Usuario accede al portal de ayuda.</a:t>
            </a:r>
          </a:p>
          <a:p>
            <a:pPr marL="285750" lvl="4"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Sistema presenta formulario de solicitud digital.</a:t>
            </a:r>
          </a:p>
          <a:p>
            <a:pPr marL="285750" lvl="4"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Solicitante registra datos personales requeridos.</a:t>
            </a:r>
          </a:p>
          <a:p>
            <a:pPr marL="285750" lvl="4"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Se adjunta información básica de contacto.</a:t>
            </a:r>
          </a:p>
          <a:p>
            <a:pPr marL="285750" lvl="4"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Plataforma verifica integridad de datos.</a:t>
            </a:r>
          </a:p>
          <a:p>
            <a:pPr marL="285750" lvl="4"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Información se guarda para revisión.</a:t>
            </a:r>
          </a:p>
          <a:p>
            <a:pPr marL="285750" indent="-285750">
              <a:buClr>
                <a:schemeClr val="dk1"/>
              </a:buClr>
              <a:buSzPts val="1600"/>
              <a:buFont typeface="Arial"/>
              <a:buChar char="•"/>
            </a:pPr>
            <a:endParaRPr lang="es-ES" sz="1600" dirty="0">
              <a:solidFill>
                <a:schemeClr val="dk1"/>
              </a:solidFill>
              <a:latin typeface="Work Sans Light"/>
            </a:endParaRPr>
          </a:p>
          <a:p>
            <a:pPr marL="285750" indent="-285750">
              <a:buClr>
                <a:schemeClr val="dk1"/>
              </a:buClr>
              <a:buSzPts val="1600"/>
              <a:buFont typeface="Arial"/>
              <a:buChar char="•"/>
            </a:pPr>
            <a:endParaRPr lang="es-ES" sz="1600" dirty="0">
              <a:solidFill>
                <a:schemeClr val="dk1"/>
              </a:solidFill>
              <a:latin typeface="Work Sans Light"/>
            </a:endParaRPr>
          </a:p>
          <a:p>
            <a:pPr marL="285750" lvl="0" indent="-285750">
              <a:buFont typeface="Arial" panose="020B0604020202020204" pitchFamily="34" charset="0"/>
              <a:buChar char="•"/>
            </a:pPr>
            <a:endParaRPr dirty="0"/>
          </a:p>
        </p:txBody>
      </p:sp>
      <p:sp>
        <p:nvSpPr>
          <p:cNvPr id="10" name="Google Shape;135;p5">
            <a:extLst>
              <a:ext uri="{FF2B5EF4-FFF2-40B4-BE49-F238E27FC236}">
                <a16:creationId xmlns:a16="http://schemas.microsoft.com/office/drawing/2014/main" id="{1477690A-B496-4F17-A0C2-2623810336FB}"/>
              </a:ext>
            </a:extLst>
          </p:cNvPr>
          <p:cNvSpPr txBox="1"/>
          <p:nvPr/>
        </p:nvSpPr>
        <p:spPr>
          <a:xfrm>
            <a:off x="6163639" y="1099514"/>
            <a:ext cx="5572125" cy="7263486"/>
          </a:xfrm>
          <a:prstGeom prst="rect">
            <a:avLst/>
          </a:prstGeom>
          <a:noFill/>
          <a:ln>
            <a:noFill/>
          </a:ln>
        </p:spPr>
        <p:txBody>
          <a:bodyPr spcFirstLastPara="1" wrap="square" lIns="91425" tIns="45700" rIns="91425" bIns="45700" anchor="t" anchorCtr="0">
            <a:spAutoFit/>
          </a:bodyPr>
          <a:lstStyle/>
          <a:p>
            <a:pPr marL="285750" indent="-285750" eaLnBrk="0" fontAlgn="base" hangingPunct="0">
              <a:spcBef>
                <a:spcPct val="0"/>
              </a:spcBef>
              <a:spcAft>
                <a:spcPct val="0"/>
              </a:spcAft>
              <a:buClrTx/>
              <a:buFontTx/>
              <a:buChar char="•"/>
            </a:pPr>
            <a:r>
              <a:rPr lang="es-CO" sz="1600" b="1" dirty="0">
                <a:solidFill>
                  <a:schemeClr val="dk1"/>
                </a:solidFill>
                <a:latin typeface="Work Sans Light"/>
              </a:rPr>
              <a:t>Evaluación de Usuarios</a:t>
            </a:r>
          </a:p>
          <a:p>
            <a:pPr marL="285750" lvl="4" indent="-285750" eaLnBrk="0" fontAlgn="base" hangingPunct="0">
              <a:spcBef>
                <a:spcPct val="0"/>
              </a:spcBef>
              <a:spcAft>
                <a:spcPct val="0"/>
              </a:spcAft>
              <a:buClrTx/>
              <a:buFont typeface="Arial" panose="020B0604020202020204" pitchFamily="34" charset="0"/>
              <a:buChar char="•"/>
            </a:pPr>
            <a:r>
              <a:rPr lang="es-ES" sz="1600" dirty="0">
                <a:solidFill>
                  <a:schemeClr val="dk1"/>
                </a:solidFill>
                <a:latin typeface="Work Sans Light"/>
              </a:rPr>
              <a:t>Administrador accede al panel de control.</a:t>
            </a:r>
          </a:p>
          <a:p>
            <a:pPr marL="285750" lvl="4" indent="-285750" eaLnBrk="0" fontAlgn="base" hangingPunct="0">
              <a:spcBef>
                <a:spcPct val="0"/>
              </a:spcBef>
              <a:spcAft>
                <a:spcPct val="0"/>
              </a:spcAft>
              <a:buClrTx/>
              <a:buFont typeface="Arial" panose="020B0604020202020204" pitchFamily="34" charset="0"/>
              <a:buChar char="•"/>
            </a:pPr>
            <a:r>
              <a:rPr lang="es-ES" sz="1600" dirty="0">
                <a:solidFill>
                  <a:schemeClr val="dk1"/>
                </a:solidFill>
                <a:latin typeface="Work Sans Light"/>
              </a:rPr>
              <a:t>Visualiza solicitudes registradas en plataforma.</a:t>
            </a:r>
          </a:p>
          <a:p>
            <a:pPr marL="285750" lvl="4" indent="-285750" eaLnBrk="0" fontAlgn="base" hangingPunct="0">
              <a:spcBef>
                <a:spcPct val="0"/>
              </a:spcBef>
              <a:spcAft>
                <a:spcPct val="0"/>
              </a:spcAft>
              <a:buClrTx/>
              <a:buFont typeface="Arial" panose="020B0604020202020204" pitchFamily="34" charset="0"/>
              <a:buChar char="•"/>
            </a:pPr>
            <a:r>
              <a:rPr lang="es-ES" sz="1600" dirty="0">
                <a:solidFill>
                  <a:schemeClr val="dk1"/>
                </a:solidFill>
                <a:latin typeface="Work Sans Light"/>
              </a:rPr>
              <a:t>Revisa datos personales y categoría solicitada.</a:t>
            </a:r>
          </a:p>
          <a:p>
            <a:pPr marL="285750" lvl="4" indent="-285750" eaLnBrk="0" fontAlgn="base" hangingPunct="0">
              <a:spcBef>
                <a:spcPct val="0"/>
              </a:spcBef>
              <a:spcAft>
                <a:spcPct val="0"/>
              </a:spcAft>
              <a:buClrTx/>
              <a:buFont typeface="Arial" panose="020B0604020202020204" pitchFamily="34" charset="0"/>
              <a:buChar char="•"/>
            </a:pPr>
            <a:r>
              <a:rPr lang="es-ES" sz="1600" dirty="0">
                <a:solidFill>
                  <a:schemeClr val="dk1"/>
                </a:solidFill>
                <a:latin typeface="Work Sans Light"/>
              </a:rPr>
              <a:t>Sistema apoya validación de información ingresada.</a:t>
            </a:r>
          </a:p>
          <a:p>
            <a:pPr marL="285750" lvl="4" indent="-285750" eaLnBrk="0" fontAlgn="base" hangingPunct="0">
              <a:spcBef>
                <a:spcPct val="0"/>
              </a:spcBef>
              <a:spcAft>
                <a:spcPct val="0"/>
              </a:spcAft>
              <a:buClrTx/>
              <a:buFont typeface="Arial" panose="020B0604020202020204" pitchFamily="34" charset="0"/>
              <a:buChar char="•"/>
            </a:pPr>
            <a:r>
              <a:rPr lang="es-ES" sz="1600" dirty="0">
                <a:solidFill>
                  <a:schemeClr val="dk1"/>
                </a:solidFill>
                <a:latin typeface="Work Sans Light"/>
              </a:rPr>
              <a:t>Se analiza cumplimiento de criterios establecidos.</a:t>
            </a:r>
          </a:p>
          <a:p>
            <a:pPr marL="285750" lvl="4" indent="-285750" eaLnBrk="0" fontAlgn="base" hangingPunct="0">
              <a:spcBef>
                <a:spcPct val="0"/>
              </a:spcBef>
              <a:spcAft>
                <a:spcPct val="0"/>
              </a:spcAft>
              <a:buClrTx/>
              <a:buFont typeface="Arial" panose="020B0604020202020204" pitchFamily="34" charset="0"/>
              <a:buChar char="•"/>
            </a:pPr>
            <a:r>
              <a:rPr lang="es-ES" sz="1600" dirty="0">
                <a:solidFill>
                  <a:schemeClr val="dk1"/>
                </a:solidFill>
                <a:latin typeface="Work Sans Light"/>
              </a:rPr>
              <a:t>Plataforma registra decisión de aprobación.</a:t>
            </a:r>
          </a:p>
          <a:p>
            <a:pPr>
              <a:buClr>
                <a:schemeClr val="dk1"/>
              </a:buClr>
              <a:buSzPts val="1600"/>
            </a:pPr>
            <a:endParaRPr lang="es-CO" sz="2000" dirty="0"/>
          </a:p>
          <a:p>
            <a:pPr marL="285750" indent="-285750" eaLnBrk="0" fontAlgn="base" hangingPunct="0">
              <a:spcBef>
                <a:spcPct val="0"/>
              </a:spcBef>
              <a:spcAft>
                <a:spcPct val="0"/>
              </a:spcAft>
              <a:buClrTx/>
              <a:buFontTx/>
              <a:buChar char="•"/>
            </a:pPr>
            <a:r>
              <a:rPr lang="es-CO" sz="1600" b="1" dirty="0">
                <a:solidFill>
                  <a:srgbClr val="0D0D0D"/>
                </a:solidFill>
                <a:latin typeface="ui-sans-serif"/>
              </a:rPr>
              <a:t>Programación de Encuentros</a:t>
            </a:r>
            <a:endParaRPr lang="es-ES" sz="1600" b="1" dirty="0">
              <a:solidFill>
                <a:schemeClr val="dk1"/>
              </a:solidFill>
              <a:latin typeface="Work Sans Light"/>
            </a:endParaRPr>
          </a:p>
          <a:p>
            <a:pPr marL="285750" lvl="4" indent="-285750" eaLnBrk="0" fontAlgn="base" hangingPunct="0">
              <a:spcBef>
                <a:spcPct val="0"/>
              </a:spcBef>
              <a:spcAft>
                <a:spcPct val="0"/>
              </a:spcAft>
              <a:buClrTx/>
              <a:buFont typeface="Arial" panose="020B0604020202020204" pitchFamily="34" charset="0"/>
              <a:buChar char="•"/>
            </a:pPr>
            <a:r>
              <a:rPr lang="es-ES" sz="1600" dirty="0">
                <a:solidFill>
                  <a:schemeClr val="dk1"/>
                </a:solidFill>
                <a:latin typeface="Work Sans Light"/>
              </a:rPr>
              <a:t>Solicitante envía solicitud de acompañamiento.</a:t>
            </a:r>
          </a:p>
          <a:p>
            <a:pPr marL="285750" lvl="4" indent="-285750" eaLnBrk="0" fontAlgn="base" hangingPunct="0">
              <a:spcBef>
                <a:spcPct val="0"/>
              </a:spcBef>
              <a:spcAft>
                <a:spcPct val="0"/>
              </a:spcAft>
              <a:buClrTx/>
              <a:buFont typeface="Arial" panose="020B0604020202020204" pitchFamily="34" charset="0"/>
              <a:buChar char="•"/>
            </a:pPr>
            <a:r>
              <a:rPr lang="es-ES" sz="1600" dirty="0">
                <a:solidFill>
                  <a:schemeClr val="dk1"/>
                </a:solidFill>
                <a:latin typeface="Work Sans Light"/>
              </a:rPr>
              <a:t>Sistema notifica voluntarios disponibles registrados.</a:t>
            </a:r>
          </a:p>
          <a:p>
            <a:pPr marL="285750" lvl="4" indent="-285750" eaLnBrk="0" fontAlgn="base" hangingPunct="0">
              <a:spcBef>
                <a:spcPct val="0"/>
              </a:spcBef>
              <a:spcAft>
                <a:spcPct val="0"/>
              </a:spcAft>
              <a:buClrTx/>
              <a:buFont typeface="Arial" panose="020B0604020202020204" pitchFamily="34" charset="0"/>
              <a:buChar char="•"/>
            </a:pPr>
            <a:r>
              <a:rPr lang="es-ES" sz="1600" dirty="0">
                <a:solidFill>
                  <a:schemeClr val="dk1"/>
                </a:solidFill>
                <a:latin typeface="Work Sans Light"/>
              </a:rPr>
              <a:t>Voluntario revisa caso desde la plataforma.</a:t>
            </a:r>
          </a:p>
          <a:p>
            <a:pPr marL="285750" lvl="4" indent="-285750" eaLnBrk="0" fontAlgn="base" hangingPunct="0">
              <a:spcBef>
                <a:spcPct val="0"/>
              </a:spcBef>
              <a:spcAft>
                <a:spcPct val="0"/>
              </a:spcAft>
              <a:buClrTx/>
              <a:buFont typeface="Arial" panose="020B0604020202020204" pitchFamily="34" charset="0"/>
              <a:buChar char="•"/>
            </a:pPr>
            <a:r>
              <a:rPr lang="es-ES" sz="1600" dirty="0">
                <a:solidFill>
                  <a:schemeClr val="dk1"/>
                </a:solidFill>
                <a:latin typeface="Work Sans Light"/>
              </a:rPr>
              <a:t>Ambas partes acuerdan fecha del encuentro.</a:t>
            </a:r>
          </a:p>
          <a:p>
            <a:pPr marL="285750" lvl="4" indent="-285750" eaLnBrk="0" fontAlgn="base" hangingPunct="0">
              <a:spcBef>
                <a:spcPct val="0"/>
              </a:spcBef>
              <a:spcAft>
                <a:spcPct val="0"/>
              </a:spcAft>
              <a:buClrTx/>
              <a:buFont typeface="Arial" panose="020B0604020202020204" pitchFamily="34" charset="0"/>
              <a:buChar char="•"/>
            </a:pPr>
            <a:r>
              <a:rPr lang="es-ES" sz="1600" dirty="0">
                <a:solidFill>
                  <a:schemeClr val="dk1"/>
                </a:solidFill>
                <a:latin typeface="Work Sans Light"/>
              </a:rPr>
              <a:t>Sistema valida disponibilidad de participantes.</a:t>
            </a:r>
          </a:p>
          <a:p>
            <a:pPr marL="285750" lvl="4" indent="-285750" eaLnBrk="0" fontAlgn="base" hangingPunct="0">
              <a:spcBef>
                <a:spcPct val="0"/>
              </a:spcBef>
              <a:spcAft>
                <a:spcPct val="0"/>
              </a:spcAft>
              <a:buClrTx/>
              <a:buFont typeface="Arial" panose="020B0604020202020204" pitchFamily="34" charset="0"/>
              <a:buChar char="•"/>
            </a:pPr>
            <a:r>
              <a:rPr lang="es-ES" sz="1600" dirty="0">
                <a:solidFill>
                  <a:schemeClr val="dk1"/>
                </a:solidFill>
                <a:latin typeface="Work Sans Light"/>
              </a:rPr>
              <a:t>Encuentro queda programado en agenda digital.</a:t>
            </a:r>
          </a:p>
          <a:p>
            <a:pPr marL="285750" lvl="4" indent="-285750" eaLnBrk="0" fontAlgn="base" hangingPunct="0">
              <a:spcBef>
                <a:spcPct val="0"/>
              </a:spcBef>
              <a:spcAft>
                <a:spcPct val="0"/>
              </a:spcAft>
              <a:buClrTx/>
              <a:buFont typeface="Arial" panose="020B0604020202020204" pitchFamily="34" charset="0"/>
              <a:buChar char="•"/>
            </a:pPr>
            <a:endParaRPr lang="es-CO" altLang="es-CO" sz="1600" dirty="0">
              <a:solidFill>
                <a:schemeClr val="dk1"/>
              </a:solidFill>
              <a:latin typeface="Work Sans Light"/>
            </a:endParaRPr>
          </a:p>
          <a:p>
            <a:pPr marL="285750" lvl="0" indent="-285750" eaLnBrk="0" fontAlgn="base" hangingPunct="0">
              <a:spcBef>
                <a:spcPct val="0"/>
              </a:spcBef>
              <a:spcAft>
                <a:spcPct val="0"/>
              </a:spcAft>
              <a:buClrTx/>
              <a:buFontTx/>
              <a:buChar char="•"/>
            </a:pPr>
            <a:r>
              <a:rPr lang="es-CO" sz="1600" b="1" dirty="0">
                <a:solidFill>
                  <a:srgbClr val="0D0D0D"/>
                </a:solidFill>
                <a:latin typeface="ui-sans-serif"/>
              </a:rPr>
              <a:t>Atención y Seguimiento</a:t>
            </a:r>
          </a:p>
          <a:p>
            <a:pPr marL="285750" lvl="4"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Solicitante describe necesidad en el sistema.</a:t>
            </a:r>
          </a:p>
          <a:p>
            <a:pPr marL="285750" lvl="4"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Voluntario registra acciones realizadas en línea.</a:t>
            </a:r>
          </a:p>
          <a:p>
            <a:pPr marL="285750" lvl="4"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Plataforma permite seguimiento del caso activo.</a:t>
            </a:r>
          </a:p>
          <a:p>
            <a:pPr marL="285750" lvl="4"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Se documentan soluciones brindadas al usuario.</a:t>
            </a:r>
          </a:p>
          <a:p>
            <a:pPr marL="285750" lvl="4"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Sistema solicita retroalimentación del solicitante.</a:t>
            </a:r>
          </a:p>
          <a:p>
            <a:pPr marL="285750" lvl="4" indent="-285750" eaLnBrk="0" fontAlgn="base" hangingPunct="0">
              <a:spcBef>
                <a:spcPct val="0"/>
              </a:spcBef>
              <a:spcAft>
                <a:spcPct val="0"/>
              </a:spcAft>
              <a:buClrTx/>
              <a:buFont typeface="Arial" panose="020B0604020202020204" pitchFamily="34" charset="0"/>
              <a:buChar char="•"/>
            </a:pPr>
            <a:r>
              <a:rPr lang="es-CO" altLang="es-CO" sz="1600" dirty="0">
                <a:solidFill>
                  <a:schemeClr val="dk1"/>
                </a:solidFill>
                <a:latin typeface="Work Sans Light"/>
              </a:rPr>
              <a:t>Caso se cierra dentro del aplicativo.</a:t>
            </a:r>
          </a:p>
          <a:p>
            <a:pPr marL="285750" lvl="4" indent="-285750" eaLnBrk="0" fontAlgn="base" hangingPunct="0">
              <a:spcBef>
                <a:spcPct val="0"/>
              </a:spcBef>
              <a:spcAft>
                <a:spcPct val="0"/>
              </a:spcAft>
              <a:buClrTx/>
              <a:buFont typeface="Arial" panose="020B0604020202020204" pitchFamily="34" charset="0"/>
              <a:buChar char="•"/>
            </a:pPr>
            <a:endParaRPr lang="es-CO" sz="1600" dirty="0">
              <a:solidFill>
                <a:schemeClr val="dk1"/>
              </a:solidFill>
              <a:latin typeface="Work Sans Light"/>
            </a:endParaRPr>
          </a:p>
          <a:p>
            <a:pPr marL="285750" lvl="4" indent="-285750" eaLnBrk="0" fontAlgn="base" hangingPunct="0">
              <a:spcBef>
                <a:spcPct val="0"/>
              </a:spcBef>
              <a:spcAft>
                <a:spcPct val="0"/>
              </a:spcAft>
              <a:buClrTx/>
              <a:buFont typeface="Arial" panose="020B0604020202020204" pitchFamily="34" charset="0"/>
              <a:buChar char="•"/>
            </a:pPr>
            <a:endParaRPr lang="es-CO" altLang="es-CO" sz="1600" dirty="0">
              <a:solidFill>
                <a:schemeClr val="dk1"/>
              </a:solidFill>
              <a:latin typeface="Work Sans Light"/>
            </a:endParaRPr>
          </a:p>
          <a:p>
            <a:pPr marL="285750" indent="-285750">
              <a:buClr>
                <a:schemeClr val="dk1"/>
              </a:buClr>
              <a:buSzPts val="1600"/>
              <a:buFont typeface="Arial"/>
              <a:buChar char="•"/>
            </a:pPr>
            <a:endParaRPr lang="es-ES" sz="1600" dirty="0">
              <a:solidFill>
                <a:schemeClr val="dk1"/>
              </a:solidFill>
              <a:latin typeface="Work Sans Light"/>
            </a:endParaRPr>
          </a:p>
          <a:p>
            <a:pPr marL="285750" indent="-285750">
              <a:buClr>
                <a:schemeClr val="dk1"/>
              </a:buClr>
              <a:buSzPts val="1600"/>
              <a:buFont typeface="Arial"/>
              <a:buChar char="•"/>
            </a:pPr>
            <a:endParaRPr lang="es-ES" sz="1600" dirty="0">
              <a:solidFill>
                <a:schemeClr val="dk1"/>
              </a:solidFill>
              <a:latin typeface="Work Sans Light"/>
            </a:endParaRPr>
          </a:p>
          <a:p>
            <a:pPr marL="285750" lvl="0" indent="-285750">
              <a:buFont typeface="Arial" panose="020B0604020202020204" pitchFamily="34" charset="0"/>
              <a:buChar char="•"/>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7"/>
          <p:cNvSpPr/>
          <p:nvPr/>
        </p:nvSpPr>
        <p:spPr>
          <a:xfrm>
            <a:off x="1314043" y="593940"/>
            <a:ext cx="3527266" cy="347242"/>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9" name="Google Shape;149;p7"/>
          <p:cNvSpPr txBox="1"/>
          <p:nvPr/>
        </p:nvSpPr>
        <p:spPr>
          <a:xfrm>
            <a:off x="1039184" y="310961"/>
            <a:ext cx="4076985" cy="676598"/>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38AA00"/>
              </a:buClr>
              <a:buSzPts val="3200"/>
              <a:buFont typeface="Work Sans Light"/>
              <a:buNone/>
            </a:pPr>
            <a:r>
              <a:rPr lang="es-MX" sz="3200" dirty="0">
                <a:solidFill>
                  <a:srgbClr val="38AA00"/>
                </a:solidFill>
                <a:latin typeface="Work Sans Light"/>
                <a:ea typeface="Work Sans Light"/>
                <a:cs typeface="Work Sans Light"/>
                <a:sym typeface="Work Sans Light"/>
              </a:rPr>
              <a:t>Objetivo General</a:t>
            </a:r>
            <a:endParaRPr dirty="0"/>
          </a:p>
        </p:txBody>
      </p:sp>
      <p:sp>
        <p:nvSpPr>
          <p:cNvPr id="150" name="Google Shape;150;p7"/>
          <p:cNvSpPr txBox="1"/>
          <p:nvPr/>
        </p:nvSpPr>
        <p:spPr>
          <a:xfrm>
            <a:off x="484946" y="1245486"/>
            <a:ext cx="5042916" cy="1323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dirty="0">
                <a:solidFill>
                  <a:schemeClr val="dk1"/>
                </a:solidFill>
                <a:latin typeface="Work Sans Light"/>
              </a:rPr>
              <a:t>Desarrollar un sistema de información web </a:t>
            </a:r>
            <a:r>
              <a:rPr lang="es-ES" sz="1600" dirty="0" err="1">
                <a:solidFill>
                  <a:schemeClr val="dk1"/>
                </a:solidFill>
                <a:latin typeface="Work Sans Light"/>
              </a:rPr>
              <a:t>Give</a:t>
            </a:r>
            <a:r>
              <a:rPr lang="es-ES" sz="1600" dirty="0">
                <a:solidFill>
                  <a:schemeClr val="dk1"/>
                </a:solidFill>
                <a:latin typeface="Work Sans Light"/>
              </a:rPr>
              <a:t> &amp; </a:t>
            </a:r>
            <a:r>
              <a:rPr lang="es-ES" sz="1600" dirty="0" err="1">
                <a:solidFill>
                  <a:schemeClr val="dk1"/>
                </a:solidFill>
                <a:latin typeface="Work Sans Light"/>
              </a:rPr>
              <a:t>Go</a:t>
            </a:r>
            <a:r>
              <a:rPr lang="es-ES" sz="1600" dirty="0">
                <a:solidFill>
                  <a:schemeClr val="dk1"/>
                </a:solidFill>
                <a:latin typeface="Work Sans Light"/>
              </a:rPr>
              <a:t> para permitir conectar a personas y organizaciones que desean ofrecer ayuda con aquellas que la necesitan, fomentando la solidaridad y la participación social.</a:t>
            </a:r>
            <a:endParaRPr sz="1600" dirty="0">
              <a:solidFill>
                <a:schemeClr val="dk1"/>
              </a:solidFill>
              <a:latin typeface="Work Sans Light"/>
              <a:sym typeface="Work Sans Light"/>
            </a:endParaRPr>
          </a:p>
        </p:txBody>
      </p:sp>
      <p:pic>
        <p:nvPicPr>
          <p:cNvPr id="151" name="Google Shape;151;p7"/>
          <p:cNvPicPr preferRelativeResize="0"/>
          <p:nvPr/>
        </p:nvPicPr>
        <p:blipFill rotWithShape="1">
          <a:blip r:embed="rId3">
            <a:alphaModFix/>
          </a:blip>
          <a:srcRect/>
          <a:stretch/>
        </p:blipFill>
        <p:spPr>
          <a:xfrm>
            <a:off x="3657599" y="-68162"/>
            <a:ext cx="10491486" cy="6994324"/>
          </a:xfrm>
          <a:prstGeom prst="rect">
            <a:avLst/>
          </a:prstGeom>
          <a:noFill/>
          <a:ln>
            <a:noFill/>
          </a:ln>
        </p:spPr>
      </p:pic>
      <p:sp>
        <p:nvSpPr>
          <p:cNvPr id="152" name="Google Shape;152;p7"/>
          <p:cNvSpPr/>
          <p:nvPr/>
        </p:nvSpPr>
        <p:spPr>
          <a:xfrm>
            <a:off x="484946" y="3146130"/>
            <a:ext cx="4166093" cy="347242"/>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3" name="Google Shape;153;p7"/>
          <p:cNvSpPr txBox="1"/>
          <p:nvPr/>
        </p:nvSpPr>
        <p:spPr>
          <a:xfrm>
            <a:off x="574055" y="2888203"/>
            <a:ext cx="4076985"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200"/>
              <a:buFont typeface="Work Sans Light"/>
              <a:buNone/>
            </a:pPr>
            <a:r>
              <a:rPr lang="es-MX" sz="3200" dirty="0">
                <a:solidFill>
                  <a:srgbClr val="38AA00"/>
                </a:solidFill>
                <a:latin typeface="Work Sans Light"/>
                <a:ea typeface="Work Sans Light"/>
                <a:cs typeface="Work Sans Light"/>
                <a:sym typeface="Work Sans Light"/>
              </a:rPr>
              <a:t>Objetivo Específicos</a:t>
            </a:r>
            <a:endParaRPr dirty="0"/>
          </a:p>
        </p:txBody>
      </p:sp>
      <p:sp>
        <p:nvSpPr>
          <p:cNvPr id="154" name="Google Shape;154;p7"/>
          <p:cNvSpPr txBox="1"/>
          <p:nvPr/>
        </p:nvSpPr>
        <p:spPr>
          <a:xfrm>
            <a:off x="693052" y="3480835"/>
            <a:ext cx="4834810" cy="3323946"/>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Arial"/>
              <a:buChar char="•"/>
            </a:pPr>
            <a:r>
              <a:rPr lang="es-MX" sz="1600" dirty="0">
                <a:solidFill>
                  <a:schemeClr val="dk1"/>
                </a:solidFill>
                <a:latin typeface="Work Sans Light"/>
                <a:ea typeface="Work Sans Light"/>
                <a:cs typeface="Work Sans Light"/>
                <a:sym typeface="Work Sans Light"/>
              </a:rPr>
              <a:t>Gestionar los Usuarios de </a:t>
            </a:r>
            <a:r>
              <a:rPr lang="es-ES" sz="1600" dirty="0">
                <a:solidFill>
                  <a:schemeClr val="dk1"/>
                </a:solidFill>
                <a:latin typeface="Work Sans Light"/>
                <a:ea typeface="Work Sans Light"/>
                <a:cs typeface="Work Sans Light"/>
                <a:sym typeface="Work Sans Light"/>
              </a:rPr>
              <a:t>GIVE &amp; GO</a:t>
            </a:r>
          </a:p>
          <a:p>
            <a:pPr marL="285750" marR="0" lvl="0" indent="-285750" algn="l" rtl="0">
              <a:spcBef>
                <a:spcPts val="0"/>
              </a:spcBef>
              <a:spcAft>
                <a:spcPts val="0"/>
              </a:spcAft>
              <a:buClr>
                <a:schemeClr val="dk1"/>
              </a:buClr>
              <a:buSzPts val="1600"/>
              <a:buFont typeface="Arial"/>
              <a:buChar char="•"/>
            </a:pPr>
            <a:endParaRPr dirty="0"/>
          </a:p>
          <a:p>
            <a:pPr marL="285750" marR="0" lvl="0" indent="-285750" algn="l" rtl="0">
              <a:spcBef>
                <a:spcPts val="0"/>
              </a:spcBef>
              <a:spcAft>
                <a:spcPts val="0"/>
              </a:spcAft>
              <a:buClr>
                <a:schemeClr val="dk1"/>
              </a:buClr>
              <a:buSzPts val="1600"/>
              <a:buFont typeface="Arial"/>
              <a:buChar char="•"/>
            </a:pPr>
            <a:r>
              <a:rPr lang="es-MX" sz="1600" dirty="0">
                <a:solidFill>
                  <a:schemeClr val="dk1"/>
                </a:solidFill>
                <a:latin typeface="Work Sans Light"/>
                <a:ea typeface="Work Sans Light"/>
                <a:cs typeface="Work Sans Light"/>
                <a:sym typeface="Work Sans Light"/>
              </a:rPr>
              <a:t>Gestionar </a:t>
            </a:r>
            <a:r>
              <a:rPr lang="es-ES" sz="1600" dirty="0">
                <a:solidFill>
                  <a:schemeClr val="dk1"/>
                </a:solidFill>
                <a:latin typeface="Work Sans Light"/>
                <a:ea typeface="Work Sans Light"/>
                <a:cs typeface="Work Sans Light"/>
                <a:sym typeface="Work Sans Light"/>
              </a:rPr>
              <a:t>Publicaciones y disponibilidad de los usuarios.</a:t>
            </a:r>
          </a:p>
          <a:p>
            <a:pPr marL="285750" marR="0" lvl="0" indent="-285750" algn="l" rtl="0">
              <a:spcBef>
                <a:spcPts val="0"/>
              </a:spcBef>
              <a:spcAft>
                <a:spcPts val="0"/>
              </a:spcAft>
              <a:buClr>
                <a:schemeClr val="dk1"/>
              </a:buClr>
              <a:buSzPts val="1600"/>
              <a:buFont typeface="Arial"/>
              <a:buChar char="•"/>
            </a:pPr>
            <a:endParaRPr dirty="0"/>
          </a:p>
          <a:p>
            <a:pPr marL="285750" marR="0" lvl="0" indent="-285750" algn="l" rtl="0">
              <a:spcBef>
                <a:spcPts val="0"/>
              </a:spcBef>
              <a:spcAft>
                <a:spcPts val="0"/>
              </a:spcAft>
              <a:buClr>
                <a:schemeClr val="dk1"/>
              </a:buClr>
              <a:buSzPts val="1600"/>
              <a:buFont typeface="Arial"/>
              <a:buChar char="•"/>
            </a:pPr>
            <a:r>
              <a:rPr lang="es-MX" sz="1600" dirty="0">
                <a:solidFill>
                  <a:schemeClr val="dk1"/>
                </a:solidFill>
                <a:latin typeface="Work Sans Light"/>
                <a:ea typeface="Work Sans Light"/>
                <a:cs typeface="Work Sans Light"/>
                <a:sym typeface="Work Sans Light"/>
              </a:rPr>
              <a:t>Gestionar </a:t>
            </a:r>
            <a:r>
              <a:rPr lang="es-ES" sz="1600" dirty="0">
                <a:solidFill>
                  <a:schemeClr val="dk1"/>
                </a:solidFill>
                <a:latin typeface="Work Sans Light"/>
                <a:ea typeface="Work Sans Light"/>
                <a:cs typeface="Work Sans Light"/>
                <a:sym typeface="Work Sans Light"/>
              </a:rPr>
              <a:t>un buscador de necesidades según ubicación y tipo de ayuda.</a:t>
            </a:r>
          </a:p>
          <a:p>
            <a:pPr marL="285750" marR="0" lvl="0" indent="-285750" algn="l" rtl="0">
              <a:spcBef>
                <a:spcPts val="0"/>
              </a:spcBef>
              <a:spcAft>
                <a:spcPts val="0"/>
              </a:spcAft>
              <a:buClr>
                <a:schemeClr val="dk1"/>
              </a:buClr>
              <a:buSzPts val="1600"/>
              <a:buFont typeface="Arial"/>
              <a:buChar char="•"/>
            </a:pPr>
            <a:endParaRPr dirty="0"/>
          </a:p>
          <a:p>
            <a:pPr marL="285750" marR="0" lvl="0" indent="-285750" algn="l" rtl="0">
              <a:spcBef>
                <a:spcPts val="0"/>
              </a:spcBef>
              <a:spcAft>
                <a:spcPts val="0"/>
              </a:spcAft>
              <a:buClr>
                <a:schemeClr val="dk1"/>
              </a:buClr>
              <a:buSzPts val="1600"/>
              <a:buFont typeface="Arial"/>
              <a:buChar char="•"/>
            </a:pPr>
            <a:r>
              <a:rPr lang="es-MX" sz="1600" dirty="0">
                <a:solidFill>
                  <a:schemeClr val="dk1"/>
                </a:solidFill>
                <a:latin typeface="Work Sans Light"/>
                <a:ea typeface="Work Sans Light"/>
                <a:cs typeface="Work Sans Light"/>
                <a:sym typeface="Work Sans Light"/>
              </a:rPr>
              <a:t>Gestionar </a:t>
            </a:r>
            <a:r>
              <a:rPr lang="es-ES" sz="1600" dirty="0">
                <a:solidFill>
                  <a:schemeClr val="dk1"/>
                </a:solidFill>
                <a:latin typeface="Work Sans Light"/>
              </a:rPr>
              <a:t>módulo de mensajería para la coordinación entre usuarios y organizaciones.</a:t>
            </a:r>
          </a:p>
          <a:p>
            <a:pPr marL="285750" marR="0" lvl="0" indent="-285750" algn="l" rtl="0">
              <a:spcBef>
                <a:spcPts val="0"/>
              </a:spcBef>
              <a:spcAft>
                <a:spcPts val="0"/>
              </a:spcAft>
              <a:buClr>
                <a:schemeClr val="dk1"/>
              </a:buClr>
              <a:buSzPts val="1600"/>
              <a:buFont typeface="Arial"/>
              <a:buChar char="•"/>
            </a:pPr>
            <a:endParaRPr lang="es-ES" sz="1600" dirty="0">
              <a:solidFill>
                <a:schemeClr val="dk1"/>
              </a:solidFill>
              <a:latin typeface="Work Sans Light"/>
            </a:endParaRPr>
          </a:p>
          <a:p>
            <a:pPr marL="285750" marR="0" lvl="0" indent="-285750" algn="l" rtl="0">
              <a:spcBef>
                <a:spcPts val="0"/>
              </a:spcBef>
              <a:spcAft>
                <a:spcPts val="0"/>
              </a:spcAft>
              <a:buClr>
                <a:schemeClr val="dk1"/>
              </a:buClr>
              <a:buSzPts val="1600"/>
              <a:buFont typeface="Arial"/>
              <a:buChar char="•"/>
            </a:pPr>
            <a:r>
              <a:rPr lang="es-MX" sz="1600" dirty="0">
                <a:solidFill>
                  <a:schemeClr val="dk1"/>
                </a:solidFill>
                <a:latin typeface="Work Sans Light"/>
                <a:ea typeface="Work Sans Light"/>
                <a:cs typeface="Work Sans Light"/>
                <a:sym typeface="Work Sans Light"/>
              </a:rPr>
              <a:t>Gestionar</a:t>
            </a:r>
            <a:r>
              <a:rPr lang="es-ES" sz="1600" dirty="0">
                <a:solidFill>
                  <a:schemeClr val="dk1"/>
                </a:solidFill>
                <a:latin typeface="Work Sans Light"/>
              </a:rPr>
              <a:t> un sistema de notificaciones y seguimiento de actividades realizadas. </a:t>
            </a:r>
            <a:endParaRPr sz="1600" dirty="0">
              <a:solidFill>
                <a:schemeClr val="dk1"/>
              </a:solidFill>
              <a:latin typeface="Work Sans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8"/>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Justificación</a:t>
            </a:r>
            <a:endParaRPr/>
          </a:p>
        </p:txBody>
      </p:sp>
      <p:sp>
        <p:nvSpPr>
          <p:cNvPr id="160" name="Google Shape;160;p8"/>
          <p:cNvSpPr txBox="1"/>
          <p:nvPr/>
        </p:nvSpPr>
        <p:spPr>
          <a:xfrm>
            <a:off x="8694348" y="508463"/>
            <a:ext cx="1080000" cy="5400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Logo Sistema</a:t>
            </a:r>
            <a:endParaRPr sz="1600" b="1">
              <a:solidFill>
                <a:schemeClr val="lt1"/>
              </a:solidFill>
              <a:latin typeface="Work Sans Light"/>
              <a:ea typeface="Work Sans Light"/>
              <a:cs typeface="Work Sans Light"/>
              <a:sym typeface="Work Sans Light"/>
            </a:endParaRPr>
          </a:p>
        </p:txBody>
      </p:sp>
      <p:sp>
        <p:nvSpPr>
          <p:cNvPr id="161" name="Google Shape;161;p8"/>
          <p:cNvSpPr txBox="1"/>
          <p:nvPr/>
        </p:nvSpPr>
        <p:spPr>
          <a:xfrm>
            <a:off x="9775121" y="510142"/>
            <a:ext cx="1080000" cy="5400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Logo Empresa</a:t>
            </a:r>
            <a:endParaRPr/>
          </a:p>
        </p:txBody>
      </p:sp>
      <p:sp>
        <p:nvSpPr>
          <p:cNvPr id="6" name="Google Shape;150;p7">
            <a:extLst>
              <a:ext uri="{FF2B5EF4-FFF2-40B4-BE49-F238E27FC236}">
                <a16:creationId xmlns:a16="http://schemas.microsoft.com/office/drawing/2014/main" id="{FC465995-2478-4FD1-A61D-B73E757A0895}"/>
              </a:ext>
            </a:extLst>
          </p:cNvPr>
          <p:cNvSpPr txBox="1"/>
          <p:nvPr/>
        </p:nvSpPr>
        <p:spPr>
          <a:xfrm>
            <a:off x="456236" y="2351822"/>
            <a:ext cx="11366797" cy="107717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dirty="0">
                <a:solidFill>
                  <a:schemeClr val="dk1"/>
                </a:solidFill>
                <a:latin typeface="Work Sans Light"/>
              </a:rPr>
              <a:t>La solución propuesta consiste en el desarrollo de un Sistema de Información Web denominado </a:t>
            </a:r>
            <a:r>
              <a:rPr lang="es-ES" sz="1600" dirty="0" err="1">
                <a:solidFill>
                  <a:schemeClr val="dk1"/>
                </a:solidFill>
                <a:latin typeface="Work Sans Light"/>
              </a:rPr>
              <a:t>Give</a:t>
            </a:r>
            <a:r>
              <a:rPr lang="es-ES" sz="1600" dirty="0">
                <a:solidFill>
                  <a:schemeClr val="dk1"/>
                </a:solidFill>
                <a:latin typeface="Work Sans Light"/>
              </a:rPr>
              <a:t> &amp; </a:t>
            </a:r>
            <a:r>
              <a:rPr lang="es-ES" sz="1600" dirty="0" err="1">
                <a:solidFill>
                  <a:schemeClr val="dk1"/>
                </a:solidFill>
                <a:latin typeface="Work Sans Light"/>
              </a:rPr>
              <a:t>Go</a:t>
            </a:r>
            <a:r>
              <a:rPr lang="es-ES" sz="1600" dirty="0">
                <a:solidFill>
                  <a:schemeClr val="dk1"/>
                </a:solidFill>
                <a:latin typeface="Work Sans Light"/>
              </a:rPr>
              <a:t>, concebido como una plataforma digital que integra diversas fundaciones en un solo entorno tecnológico. El sistema apoya la gestión del voluntariado comunitario y mejora la coordinación de ayudas sociales. Además, ofrece un acceso seguro, centralizado y confiable para todos los usuarios vinculados.</a:t>
            </a:r>
            <a:endParaRPr sz="1600" dirty="0">
              <a:solidFill>
                <a:schemeClr val="dk1"/>
              </a:solidFill>
              <a:latin typeface="Work Sans Light"/>
              <a:sym typeface="Work Sans Light"/>
            </a:endParaRPr>
          </a:p>
        </p:txBody>
      </p:sp>
      <p:sp>
        <p:nvSpPr>
          <p:cNvPr id="8" name="CuadroTexto 7">
            <a:extLst>
              <a:ext uri="{FF2B5EF4-FFF2-40B4-BE49-F238E27FC236}">
                <a16:creationId xmlns:a16="http://schemas.microsoft.com/office/drawing/2014/main" id="{810797F8-25A3-43CE-AD74-EE544F162725}"/>
              </a:ext>
            </a:extLst>
          </p:cNvPr>
          <p:cNvSpPr txBox="1"/>
          <p:nvPr/>
        </p:nvSpPr>
        <p:spPr>
          <a:xfrm>
            <a:off x="456237" y="3567126"/>
            <a:ext cx="11366796" cy="1569660"/>
          </a:xfrm>
          <a:prstGeom prst="rect">
            <a:avLst/>
          </a:prstGeom>
          <a:noFill/>
        </p:spPr>
        <p:txBody>
          <a:bodyPr wrap="square">
            <a:spAutoFit/>
          </a:bodyPr>
          <a:lstStyle/>
          <a:p>
            <a:r>
              <a:rPr lang="es-ES" sz="1600" dirty="0">
                <a:solidFill>
                  <a:schemeClr val="dk1"/>
                </a:solidFill>
                <a:latin typeface="Work Sans Light"/>
              </a:rPr>
              <a:t>El sistema </a:t>
            </a:r>
            <a:r>
              <a:rPr lang="es-ES" sz="1600" dirty="0" err="1">
                <a:solidFill>
                  <a:schemeClr val="dk1"/>
                </a:solidFill>
                <a:latin typeface="Work Sans Light"/>
              </a:rPr>
              <a:t>Give</a:t>
            </a:r>
            <a:r>
              <a:rPr lang="es-ES" sz="1600" dirty="0">
                <a:solidFill>
                  <a:schemeClr val="dk1"/>
                </a:solidFill>
                <a:latin typeface="Work Sans Light"/>
              </a:rPr>
              <a:t> &amp; </a:t>
            </a:r>
            <a:r>
              <a:rPr lang="es-ES" sz="1600" dirty="0" err="1">
                <a:solidFill>
                  <a:schemeClr val="dk1"/>
                </a:solidFill>
                <a:latin typeface="Work Sans Light"/>
              </a:rPr>
              <a:t>Go</a:t>
            </a:r>
            <a:r>
              <a:rPr lang="es-ES" sz="1600" dirty="0">
                <a:solidFill>
                  <a:schemeClr val="dk1"/>
                </a:solidFill>
                <a:latin typeface="Work Sans Light"/>
              </a:rPr>
              <a:t> permitirá gestionar voluntarios, solicitantes y administradores dentro de una red digital que integra fundaciones en una sola plataforma. A través de módulos de registro y verificación, se garantizará mayor transparencia, organización y confianza en la información de los usuarios. Asimismo, facilitará la coordinación de ayudas, programación de encuentros y seguimiento de casos sociales, optimizando tiempos de respuesta. Finalmente, el sistema generará reportes gráficos y documentos consolidados que apoyarán la toma de decisiones administrativas y la medición del impacto social.</a:t>
            </a:r>
            <a:endParaRPr lang="es-CO" sz="1600" dirty="0">
              <a:solidFill>
                <a:schemeClr val="dk1"/>
              </a:solidFill>
              <a:latin typeface="Work Sans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9"/>
          <p:cNvSpPr txBox="1"/>
          <p:nvPr/>
        </p:nvSpPr>
        <p:spPr>
          <a:xfrm>
            <a:off x="456236" y="457723"/>
            <a:ext cx="10515600"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MX" sz="4400">
                <a:solidFill>
                  <a:srgbClr val="0C0C0C"/>
                </a:solidFill>
                <a:latin typeface="Work Sans Medium"/>
                <a:ea typeface="Work Sans Medium"/>
                <a:cs typeface="Work Sans Medium"/>
                <a:sym typeface="Work Sans Medium"/>
              </a:rPr>
              <a:t>Justificación</a:t>
            </a:r>
            <a:endParaRPr/>
          </a:p>
        </p:txBody>
      </p:sp>
      <p:sp>
        <p:nvSpPr>
          <p:cNvPr id="168" name="Google Shape;168;p9"/>
          <p:cNvSpPr txBox="1"/>
          <p:nvPr/>
        </p:nvSpPr>
        <p:spPr>
          <a:xfrm>
            <a:off x="8694348" y="508463"/>
            <a:ext cx="1080000" cy="54000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600">
                <a:solidFill>
                  <a:schemeClr val="dk1"/>
                </a:solidFill>
                <a:latin typeface="Work Sans Light"/>
                <a:ea typeface="Work Sans Light"/>
                <a:cs typeface="Work Sans Light"/>
                <a:sym typeface="Work Sans Light"/>
              </a:rPr>
              <a:t>Logo Sistema</a:t>
            </a:r>
            <a:endParaRPr sz="1600">
              <a:solidFill>
                <a:schemeClr val="dk1"/>
              </a:solidFill>
              <a:latin typeface="Work Sans Light"/>
              <a:ea typeface="Work Sans Light"/>
              <a:cs typeface="Work Sans Light"/>
              <a:sym typeface="Work Sans Light"/>
            </a:endParaRPr>
          </a:p>
        </p:txBody>
      </p:sp>
      <p:sp>
        <p:nvSpPr>
          <p:cNvPr id="169" name="Google Shape;169;p9"/>
          <p:cNvSpPr txBox="1"/>
          <p:nvPr/>
        </p:nvSpPr>
        <p:spPr>
          <a:xfrm>
            <a:off x="9775121" y="510142"/>
            <a:ext cx="1080000" cy="54000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600">
                <a:solidFill>
                  <a:schemeClr val="dk1"/>
                </a:solidFill>
                <a:latin typeface="Work Sans Light"/>
                <a:ea typeface="Work Sans Light"/>
                <a:cs typeface="Work Sans Light"/>
                <a:sym typeface="Work Sans Light"/>
              </a:rPr>
              <a:t>Logo Empresa</a:t>
            </a:r>
            <a:endParaRPr/>
          </a:p>
        </p:txBody>
      </p:sp>
      <p:sp>
        <p:nvSpPr>
          <p:cNvPr id="8" name="Google Shape;150;p7">
            <a:extLst>
              <a:ext uri="{FF2B5EF4-FFF2-40B4-BE49-F238E27FC236}">
                <a16:creationId xmlns:a16="http://schemas.microsoft.com/office/drawing/2014/main" id="{6764F869-2195-47F0-B3AE-9D89A3F6FBAC}"/>
              </a:ext>
            </a:extLst>
          </p:cNvPr>
          <p:cNvSpPr txBox="1"/>
          <p:nvPr/>
        </p:nvSpPr>
        <p:spPr>
          <a:xfrm>
            <a:off x="456236" y="2351822"/>
            <a:ext cx="11366797" cy="2308284"/>
          </a:xfrm>
          <a:prstGeom prst="rect">
            <a:avLst/>
          </a:prstGeom>
          <a:noFill/>
          <a:ln>
            <a:noFill/>
          </a:ln>
        </p:spPr>
        <p:txBody>
          <a:bodyPr spcFirstLastPara="1" wrap="square" lIns="91425" tIns="45700" rIns="91425" bIns="45700" anchor="t" anchorCtr="0">
            <a:spAutoFit/>
          </a:bodyPr>
          <a:lstStyle/>
          <a:p>
            <a:pPr lvl="0">
              <a:buSzPts val="1400"/>
              <a:defRPr/>
            </a:pPr>
            <a:r>
              <a:rPr lang="es-ES" sz="1600" dirty="0">
                <a:solidFill>
                  <a:schemeClr val="dk1"/>
                </a:solidFill>
                <a:latin typeface="Work Sans Light"/>
              </a:rPr>
              <a:t>Como aporte al sector social, </a:t>
            </a:r>
            <a:r>
              <a:rPr lang="es-ES" sz="1600" dirty="0" err="1">
                <a:solidFill>
                  <a:schemeClr val="dk1"/>
                </a:solidFill>
                <a:latin typeface="Work Sans Light"/>
              </a:rPr>
              <a:t>Give</a:t>
            </a:r>
            <a:r>
              <a:rPr lang="es-ES" sz="1600" dirty="0">
                <a:solidFill>
                  <a:schemeClr val="dk1"/>
                </a:solidFill>
                <a:latin typeface="Work Sans Light"/>
              </a:rPr>
              <a:t> &amp; </a:t>
            </a:r>
            <a:r>
              <a:rPr lang="es-ES" sz="1600" dirty="0" err="1">
                <a:solidFill>
                  <a:schemeClr val="dk1"/>
                </a:solidFill>
                <a:latin typeface="Work Sans Light"/>
              </a:rPr>
              <a:t>Go</a:t>
            </a:r>
            <a:r>
              <a:rPr lang="es-ES" sz="1600" dirty="0">
                <a:solidFill>
                  <a:schemeClr val="dk1"/>
                </a:solidFill>
                <a:latin typeface="Work Sans Light"/>
              </a:rPr>
              <a:t> promueve la solidaridad organizada mediante el uso responsable de la tecnología. La plataforma fortalece la participación ciudadana estructurada, fomenta la transparencia en la gestión de ayudas y apoya procesos de verificación que generan confianza. Asimismo, permite medir el impacto social mediante datos claros.</a:t>
            </a:r>
          </a:p>
          <a:p>
            <a:pPr lvl="0">
              <a:buSzPts val="1400"/>
              <a:defRPr/>
            </a:pPr>
            <a:endParaRPr lang="es-ES" sz="1600" dirty="0">
              <a:solidFill>
                <a:schemeClr val="dk1"/>
              </a:solidFill>
              <a:latin typeface="Work Sans Light"/>
            </a:endParaRPr>
          </a:p>
          <a:p>
            <a:pPr lvl="0">
              <a:buSzPts val="1400"/>
              <a:defRPr/>
            </a:pPr>
            <a:endParaRPr lang="es-CO" sz="1600" dirty="0">
              <a:solidFill>
                <a:schemeClr val="dk1"/>
              </a:solidFill>
              <a:latin typeface="Work Sans Light"/>
            </a:endParaRPr>
          </a:p>
          <a:p>
            <a:pPr lvl="0">
              <a:buSzPts val="1400"/>
              <a:defRPr/>
            </a:pPr>
            <a:r>
              <a:rPr lang="es-ES" sz="1600" dirty="0">
                <a:solidFill>
                  <a:schemeClr val="dk1"/>
                </a:solidFill>
                <a:latin typeface="Work Sans Light"/>
              </a:rPr>
              <a:t>Finalmente, el sistema aprovecha el crecimiento del voluntariado en Colombia para consolidar una red de apoyo comunitario más cercana y eficiente. Facilita la comunicación entre actores sociales, impulsa la gestión digital de fundaciones y fortalece el tejido social mediante la colaboración organizada.</a:t>
            </a:r>
            <a:r>
              <a:rPr lang="es-ES" sz="1600" dirty="0">
                <a:solidFill>
                  <a:schemeClr val="dk1"/>
                </a:solidFill>
                <a:latin typeface="Work Sans Light"/>
                <a:ea typeface="Work Sans Light"/>
                <a:cs typeface="Work Sans Light"/>
                <a:sym typeface="Work Sans Light"/>
              </a:rPr>
              <a:t> </a:t>
            </a:r>
            <a:endParaRPr lang="es-ES" sz="1600" dirty="0">
              <a:solidFill>
                <a:schemeClr val="dk1"/>
              </a:solidFill>
              <a:latin typeface="Work Sans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0"/>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Alcance</a:t>
            </a:r>
            <a:endParaRPr/>
          </a:p>
        </p:txBody>
      </p:sp>
      <p:sp>
        <p:nvSpPr>
          <p:cNvPr id="176" name="Google Shape;176;p10"/>
          <p:cNvSpPr txBox="1"/>
          <p:nvPr/>
        </p:nvSpPr>
        <p:spPr>
          <a:xfrm>
            <a:off x="8694348" y="508463"/>
            <a:ext cx="1080000" cy="5400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Logo Sistema</a:t>
            </a:r>
            <a:endParaRPr sz="1600" b="1">
              <a:solidFill>
                <a:schemeClr val="lt1"/>
              </a:solidFill>
              <a:latin typeface="Work Sans Light"/>
              <a:ea typeface="Work Sans Light"/>
              <a:cs typeface="Work Sans Light"/>
              <a:sym typeface="Work Sans Light"/>
            </a:endParaRPr>
          </a:p>
        </p:txBody>
      </p:sp>
      <p:sp>
        <p:nvSpPr>
          <p:cNvPr id="177" name="Google Shape;177;p10"/>
          <p:cNvSpPr txBox="1"/>
          <p:nvPr/>
        </p:nvSpPr>
        <p:spPr>
          <a:xfrm>
            <a:off x="9775121" y="510142"/>
            <a:ext cx="1080000" cy="5400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Logo Empresa</a:t>
            </a:r>
            <a:endParaRPr/>
          </a:p>
        </p:txBody>
      </p:sp>
      <p:sp>
        <p:nvSpPr>
          <p:cNvPr id="6" name="Google Shape;150;p7">
            <a:extLst>
              <a:ext uri="{FF2B5EF4-FFF2-40B4-BE49-F238E27FC236}">
                <a16:creationId xmlns:a16="http://schemas.microsoft.com/office/drawing/2014/main" id="{38B1DA77-1821-4E42-9361-22857CC9221D}"/>
              </a:ext>
            </a:extLst>
          </p:cNvPr>
          <p:cNvSpPr txBox="1"/>
          <p:nvPr/>
        </p:nvSpPr>
        <p:spPr>
          <a:xfrm>
            <a:off x="456236" y="2208012"/>
            <a:ext cx="11366797" cy="15696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dirty="0" err="1">
                <a:solidFill>
                  <a:schemeClr val="dk1"/>
                </a:solidFill>
                <a:latin typeface="Work Sans Light"/>
              </a:rPr>
              <a:t>Give</a:t>
            </a:r>
            <a:r>
              <a:rPr lang="es-ES" sz="1600" dirty="0">
                <a:solidFill>
                  <a:schemeClr val="dk1"/>
                </a:solidFill>
                <a:latin typeface="Work Sans Light"/>
              </a:rPr>
              <a:t> &amp; </a:t>
            </a:r>
            <a:r>
              <a:rPr lang="es-ES" sz="1600" dirty="0" err="1">
                <a:solidFill>
                  <a:schemeClr val="dk1"/>
                </a:solidFill>
                <a:latin typeface="Work Sans Light"/>
              </a:rPr>
              <a:t>Go</a:t>
            </a:r>
            <a:r>
              <a:rPr lang="es-ES" sz="1600" dirty="0">
                <a:solidFill>
                  <a:schemeClr val="dk1"/>
                </a:solidFill>
                <a:latin typeface="Work Sans Light"/>
              </a:rPr>
              <a:t> será una plataforma tecnológica orientada a la gestión y articulación de iniciativas de voluntariado e impacto social. El sistema permitirá el registro y administración de perfiles de voluntarios, solicitantes y organizaciones, así como la publicación, búsqueda y postulación a ofertas de ayuda y necesidades sociales. Incorporará geolocalización para identificar oportunidades cercanas, funcionalidades de chat y notificaciones para la coordinación entre los usuarios, y módulos de seguimiento que permitan generar reportes de impacto social basados en la participación y las actividades realizadas. </a:t>
            </a:r>
            <a:endParaRPr sz="1600" dirty="0">
              <a:solidFill>
                <a:schemeClr val="dk1"/>
              </a:solidFill>
              <a:latin typeface="Work Sans Light"/>
              <a:sym typeface="Work Sans Light"/>
            </a:endParaRPr>
          </a:p>
        </p:txBody>
      </p:sp>
      <p:sp>
        <p:nvSpPr>
          <p:cNvPr id="7" name="Google Shape;150;p7">
            <a:extLst>
              <a:ext uri="{FF2B5EF4-FFF2-40B4-BE49-F238E27FC236}">
                <a16:creationId xmlns:a16="http://schemas.microsoft.com/office/drawing/2014/main" id="{33F2E1E5-B9D1-43C6-A0C3-E9E04304A594}"/>
              </a:ext>
            </a:extLst>
          </p:cNvPr>
          <p:cNvSpPr txBox="1"/>
          <p:nvPr/>
        </p:nvSpPr>
        <p:spPr>
          <a:xfrm>
            <a:off x="456236" y="3910264"/>
            <a:ext cx="11366797"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dirty="0">
                <a:solidFill>
                  <a:schemeClr val="dk1"/>
                </a:solidFill>
                <a:latin typeface="Work Sans Light"/>
              </a:rPr>
              <a:t>El sistema no gestionará pagos ni donaciones económicas, no validará legalmente la identidad o antecedentes de los usuarios, ni será responsable de la ejecución logística o legal de las actividades acordadas, limitándose a ser una plataforma de intermediación digital.</a:t>
            </a:r>
            <a:endParaRPr sz="1600" dirty="0">
              <a:solidFill>
                <a:schemeClr val="dk1"/>
              </a:solidFill>
              <a:latin typeface="Work Sans Light"/>
              <a:sym typeface="Work Sans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1"/>
          <p:cNvSpPr txBox="1"/>
          <p:nvPr/>
        </p:nvSpPr>
        <p:spPr>
          <a:xfrm>
            <a:off x="456236" y="457723"/>
            <a:ext cx="10515600"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MX" sz="4400">
                <a:solidFill>
                  <a:srgbClr val="0C0C0C"/>
                </a:solidFill>
                <a:latin typeface="Work Sans Medium"/>
                <a:ea typeface="Work Sans Medium"/>
                <a:cs typeface="Work Sans Medium"/>
                <a:sym typeface="Work Sans Medium"/>
              </a:rPr>
              <a:t>Alcance</a:t>
            </a:r>
            <a:endParaRPr/>
          </a:p>
        </p:txBody>
      </p:sp>
      <p:sp>
        <p:nvSpPr>
          <p:cNvPr id="184" name="Google Shape;184;p11"/>
          <p:cNvSpPr txBox="1"/>
          <p:nvPr/>
        </p:nvSpPr>
        <p:spPr>
          <a:xfrm>
            <a:off x="8694348" y="508463"/>
            <a:ext cx="1080000" cy="54000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600">
                <a:solidFill>
                  <a:schemeClr val="dk1"/>
                </a:solidFill>
                <a:latin typeface="Work Sans Light"/>
                <a:ea typeface="Work Sans Light"/>
                <a:cs typeface="Work Sans Light"/>
                <a:sym typeface="Work Sans Light"/>
              </a:rPr>
              <a:t>Logo Sistema</a:t>
            </a:r>
            <a:endParaRPr sz="1600">
              <a:solidFill>
                <a:schemeClr val="dk1"/>
              </a:solidFill>
              <a:latin typeface="Work Sans Light"/>
              <a:ea typeface="Work Sans Light"/>
              <a:cs typeface="Work Sans Light"/>
              <a:sym typeface="Work Sans Light"/>
            </a:endParaRPr>
          </a:p>
        </p:txBody>
      </p:sp>
      <p:sp>
        <p:nvSpPr>
          <p:cNvPr id="185" name="Google Shape;185;p11"/>
          <p:cNvSpPr txBox="1"/>
          <p:nvPr/>
        </p:nvSpPr>
        <p:spPr>
          <a:xfrm>
            <a:off x="9775121" y="510142"/>
            <a:ext cx="1080000" cy="54000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600">
                <a:solidFill>
                  <a:schemeClr val="dk1"/>
                </a:solidFill>
                <a:latin typeface="Work Sans Light"/>
                <a:ea typeface="Work Sans Light"/>
                <a:cs typeface="Work Sans Light"/>
                <a:sym typeface="Work Sans Light"/>
              </a:rPr>
              <a:t>Logo Empresa</a:t>
            </a:r>
            <a:endParaRPr/>
          </a:p>
        </p:txBody>
      </p:sp>
      <p:sp>
        <p:nvSpPr>
          <p:cNvPr id="6" name="Google Shape;150;p7">
            <a:extLst>
              <a:ext uri="{FF2B5EF4-FFF2-40B4-BE49-F238E27FC236}">
                <a16:creationId xmlns:a16="http://schemas.microsoft.com/office/drawing/2014/main" id="{90EA69BC-BB75-423B-B1B4-AB3E83EF5286}"/>
              </a:ext>
            </a:extLst>
          </p:cNvPr>
          <p:cNvSpPr txBox="1"/>
          <p:nvPr/>
        </p:nvSpPr>
        <p:spPr>
          <a:xfrm>
            <a:off x="456236" y="1745640"/>
            <a:ext cx="11366797"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dirty="0">
                <a:solidFill>
                  <a:schemeClr val="dk1"/>
                </a:solidFill>
                <a:latin typeface="Work Sans Light"/>
                <a:sym typeface="Work Sans Light"/>
              </a:rPr>
              <a:t>Tecnologías que usaremos en el </a:t>
            </a:r>
            <a:r>
              <a:rPr lang="es-419" sz="1600" dirty="0">
                <a:solidFill>
                  <a:schemeClr val="dk1"/>
                </a:solidFill>
                <a:latin typeface="Work Sans Light"/>
              </a:rPr>
              <a:t>STACK TECNOLÓGICO – SERVIDORES</a:t>
            </a:r>
          </a:p>
          <a:p>
            <a:pPr marL="0" marR="0" lvl="0" indent="0" algn="l" rtl="0">
              <a:spcBef>
                <a:spcPts val="0"/>
              </a:spcBef>
              <a:spcAft>
                <a:spcPts val="0"/>
              </a:spcAft>
              <a:buNone/>
            </a:pPr>
            <a:endParaRPr sz="1600" dirty="0">
              <a:solidFill>
                <a:schemeClr val="dk1"/>
              </a:solidFill>
              <a:latin typeface="Work Sans Light"/>
              <a:sym typeface="Work Sans Light"/>
            </a:endParaRPr>
          </a:p>
        </p:txBody>
      </p:sp>
      <p:sp>
        <p:nvSpPr>
          <p:cNvPr id="29" name="Google Shape;150;p7">
            <a:extLst>
              <a:ext uri="{FF2B5EF4-FFF2-40B4-BE49-F238E27FC236}">
                <a16:creationId xmlns:a16="http://schemas.microsoft.com/office/drawing/2014/main" id="{7F7F1B16-A5D1-40DF-8EFD-2635DF349F9A}"/>
              </a:ext>
            </a:extLst>
          </p:cNvPr>
          <p:cNvSpPr txBox="1"/>
          <p:nvPr/>
        </p:nvSpPr>
        <p:spPr>
          <a:xfrm>
            <a:off x="456237" y="2358449"/>
            <a:ext cx="2575722" cy="2800726"/>
          </a:xfrm>
          <a:prstGeom prst="rect">
            <a:avLst/>
          </a:prstGeom>
          <a:noFill/>
          <a:ln>
            <a:noFill/>
          </a:ln>
        </p:spPr>
        <p:txBody>
          <a:bodyPr spcFirstLastPara="1" wrap="square" lIns="91425" tIns="45700" rIns="91425" bIns="45700" anchor="t" anchorCtr="0">
            <a:spAutoFit/>
          </a:bodyPr>
          <a:lstStyle/>
          <a:p>
            <a:pPr lvl="0" eaLnBrk="0" fontAlgn="base" hangingPunct="0">
              <a:spcBef>
                <a:spcPct val="0"/>
              </a:spcBef>
              <a:spcAft>
                <a:spcPct val="0"/>
              </a:spcAft>
              <a:buClrTx/>
            </a:pPr>
            <a:r>
              <a:rPr lang="es-MX" sz="1600" dirty="0">
                <a:solidFill>
                  <a:schemeClr val="dk1"/>
                </a:solidFill>
                <a:latin typeface="Work Sans Light"/>
                <a:sym typeface="Work Sans Light"/>
              </a:rPr>
              <a:t> </a:t>
            </a:r>
            <a:r>
              <a:rPr lang="es-419" altLang="es-419" sz="1600" dirty="0">
                <a:solidFill>
                  <a:schemeClr val="dk1"/>
                </a:solidFill>
                <a:latin typeface="Work Sans Light"/>
              </a:rPr>
              <a:t>Herramientas</a:t>
            </a:r>
          </a:p>
          <a:p>
            <a:pPr lvl="0" eaLnBrk="0" fontAlgn="base" hangingPunct="0">
              <a:spcBef>
                <a:spcPct val="0"/>
              </a:spcBef>
              <a:spcAft>
                <a:spcPct val="0"/>
              </a:spcAft>
              <a:buClrTx/>
            </a:pPr>
            <a:endParaRPr lang="es-419" altLang="es-419" sz="1600" dirty="0">
              <a:solidFill>
                <a:schemeClr val="dk1"/>
              </a:solidFill>
              <a:latin typeface="Work Sans Light"/>
            </a:endParaRPr>
          </a:p>
          <a:p>
            <a:pPr marL="285750" lvl="0" indent="-285750" eaLnBrk="0" fontAlgn="base" hangingPunct="0">
              <a:spcBef>
                <a:spcPct val="0"/>
              </a:spcBef>
              <a:spcAft>
                <a:spcPct val="0"/>
              </a:spcAft>
              <a:buClrTx/>
              <a:buFont typeface="Wingdings" panose="05000000000000000000" pitchFamily="2" charset="2"/>
              <a:buChar char="q"/>
            </a:pPr>
            <a:r>
              <a:rPr lang="es-419" altLang="es-419" sz="1600" dirty="0">
                <a:solidFill>
                  <a:schemeClr val="dk1"/>
                </a:solidFill>
                <a:latin typeface="Work Sans Light"/>
              </a:rPr>
              <a:t>Visual Studio </a:t>
            </a:r>
            <a:r>
              <a:rPr lang="es-419" altLang="es-419" sz="1600" dirty="0" err="1">
                <a:solidFill>
                  <a:schemeClr val="dk1"/>
                </a:solidFill>
                <a:latin typeface="Work Sans Light"/>
              </a:rPr>
              <a:t>Code</a:t>
            </a:r>
            <a:endParaRPr lang="es-419" altLang="es-419" sz="1600" dirty="0">
              <a:solidFill>
                <a:schemeClr val="dk1"/>
              </a:solidFill>
              <a:latin typeface="Work Sans Light"/>
            </a:endParaRPr>
          </a:p>
          <a:p>
            <a:pPr marL="285750" lvl="0" indent="-285750" eaLnBrk="0" fontAlgn="base" hangingPunct="0">
              <a:spcBef>
                <a:spcPct val="0"/>
              </a:spcBef>
              <a:spcAft>
                <a:spcPct val="0"/>
              </a:spcAft>
              <a:buClrTx/>
              <a:buFont typeface="Wingdings" panose="05000000000000000000" pitchFamily="2" charset="2"/>
              <a:buChar char="q"/>
            </a:pPr>
            <a:r>
              <a:rPr lang="es-419" altLang="es-419" sz="1600" dirty="0">
                <a:solidFill>
                  <a:schemeClr val="dk1"/>
                </a:solidFill>
                <a:latin typeface="Work Sans Light"/>
              </a:rPr>
              <a:t>Git + GitHub</a:t>
            </a:r>
          </a:p>
          <a:p>
            <a:pPr marL="285750" lvl="0" indent="-285750" eaLnBrk="0" fontAlgn="base" hangingPunct="0">
              <a:spcBef>
                <a:spcPct val="0"/>
              </a:spcBef>
              <a:spcAft>
                <a:spcPct val="0"/>
              </a:spcAft>
              <a:buClrTx/>
              <a:buFont typeface="Wingdings" panose="05000000000000000000" pitchFamily="2" charset="2"/>
              <a:buChar char="q"/>
            </a:pPr>
            <a:r>
              <a:rPr lang="es-419" altLang="es-419" sz="1600" dirty="0" err="1">
                <a:solidFill>
                  <a:schemeClr val="dk1"/>
                </a:solidFill>
                <a:latin typeface="Work Sans Light"/>
              </a:rPr>
              <a:t>Postman</a:t>
            </a:r>
            <a:endParaRPr lang="es-419" altLang="es-419" sz="1600" dirty="0">
              <a:solidFill>
                <a:schemeClr val="dk1"/>
              </a:solidFill>
              <a:latin typeface="Work Sans Light"/>
            </a:endParaRPr>
          </a:p>
          <a:p>
            <a:pPr marL="285750" lvl="0" indent="-285750">
              <a:buFont typeface="Wingdings" panose="05000000000000000000" pitchFamily="2" charset="2"/>
              <a:buChar char="q"/>
            </a:pPr>
            <a:r>
              <a:rPr lang="es-MX" sz="1600" dirty="0">
                <a:solidFill>
                  <a:schemeClr val="dk1"/>
                </a:solidFill>
                <a:latin typeface="Work Sans Light"/>
                <a:sym typeface="Work Sans Light"/>
              </a:rPr>
              <a:t>Node.js</a:t>
            </a:r>
          </a:p>
          <a:p>
            <a:pPr marL="285750" lvl="0" indent="-285750">
              <a:buFont typeface="Wingdings" panose="05000000000000000000" pitchFamily="2" charset="2"/>
              <a:buChar char="q"/>
            </a:pPr>
            <a:r>
              <a:rPr lang="es-MX" sz="1600" dirty="0" err="1">
                <a:solidFill>
                  <a:schemeClr val="dk1"/>
                </a:solidFill>
                <a:latin typeface="Work Sans Light"/>
                <a:sym typeface="Work Sans Light"/>
              </a:rPr>
              <a:t>Npm</a:t>
            </a:r>
            <a:r>
              <a:rPr lang="es-MX" sz="1600" dirty="0">
                <a:solidFill>
                  <a:schemeClr val="dk1"/>
                </a:solidFill>
                <a:latin typeface="Work Sans Light"/>
                <a:sym typeface="Work Sans Light"/>
              </a:rPr>
              <a:t>/</a:t>
            </a:r>
            <a:r>
              <a:rPr lang="es-MX" sz="1600" dirty="0" err="1">
                <a:solidFill>
                  <a:schemeClr val="dk1"/>
                </a:solidFill>
                <a:latin typeface="Work Sans Light"/>
                <a:sym typeface="Work Sans Light"/>
              </a:rPr>
              <a:t>Yarn</a:t>
            </a:r>
            <a:endParaRPr lang="es-MX" sz="1600" dirty="0">
              <a:solidFill>
                <a:schemeClr val="dk1"/>
              </a:solidFill>
              <a:latin typeface="Work Sans Light"/>
              <a:sym typeface="Work Sans Light"/>
            </a:endParaRPr>
          </a:p>
          <a:p>
            <a:pPr marL="285750" lvl="0" indent="-285750">
              <a:buFont typeface="Wingdings" panose="05000000000000000000" pitchFamily="2" charset="2"/>
              <a:buChar char="q"/>
            </a:pPr>
            <a:r>
              <a:rPr lang="es-MX" sz="1600" dirty="0">
                <a:solidFill>
                  <a:schemeClr val="dk1"/>
                </a:solidFill>
                <a:latin typeface="Work Sans Light"/>
                <a:sym typeface="Work Sans Light"/>
              </a:rPr>
              <a:t>MYSQL</a:t>
            </a:r>
          </a:p>
          <a:p>
            <a:pPr marL="285750" lvl="0" indent="-285750">
              <a:buFont typeface="Wingdings" panose="05000000000000000000" pitchFamily="2" charset="2"/>
              <a:buChar char="q"/>
            </a:pPr>
            <a:r>
              <a:rPr lang="es-MX" sz="1600" dirty="0" err="1">
                <a:solidFill>
                  <a:schemeClr val="dk1"/>
                </a:solidFill>
                <a:latin typeface="Work Sans Light"/>
                <a:sym typeface="Work Sans Light"/>
              </a:rPr>
              <a:t>React</a:t>
            </a:r>
            <a:r>
              <a:rPr lang="es-MX" sz="1600" dirty="0">
                <a:solidFill>
                  <a:schemeClr val="dk1"/>
                </a:solidFill>
                <a:latin typeface="Work Sans Light"/>
                <a:sym typeface="Work Sans Light"/>
              </a:rPr>
              <a:t> Native</a:t>
            </a:r>
          </a:p>
          <a:p>
            <a:pPr marL="285750" lvl="0" indent="-285750">
              <a:buFont typeface="Wingdings" panose="05000000000000000000" pitchFamily="2" charset="2"/>
              <a:buChar char="q"/>
            </a:pPr>
            <a:r>
              <a:rPr lang="es-MX" sz="1600" dirty="0" err="1">
                <a:solidFill>
                  <a:schemeClr val="dk1"/>
                </a:solidFill>
                <a:latin typeface="Work Sans Light"/>
                <a:sym typeface="Work Sans Light"/>
              </a:rPr>
              <a:t>Workbench</a:t>
            </a:r>
            <a:endParaRPr lang="es-MX" sz="1600" dirty="0">
              <a:solidFill>
                <a:schemeClr val="dk1"/>
              </a:solidFill>
              <a:latin typeface="Work Sans Light"/>
              <a:sym typeface="Work Sans Light"/>
            </a:endParaRPr>
          </a:p>
          <a:p>
            <a:pPr marL="0" marR="0" lvl="0" indent="0" algn="l" rtl="0">
              <a:spcBef>
                <a:spcPts val="0"/>
              </a:spcBef>
              <a:spcAft>
                <a:spcPts val="0"/>
              </a:spcAft>
              <a:buNone/>
            </a:pPr>
            <a:endParaRPr sz="1600" dirty="0">
              <a:solidFill>
                <a:schemeClr val="dk1"/>
              </a:solidFill>
              <a:latin typeface="Work Sans Light"/>
              <a:sym typeface="Work Sans Light"/>
            </a:endParaRPr>
          </a:p>
        </p:txBody>
      </p:sp>
      <p:sp>
        <p:nvSpPr>
          <p:cNvPr id="30" name="Google Shape;150;p7">
            <a:extLst>
              <a:ext uri="{FF2B5EF4-FFF2-40B4-BE49-F238E27FC236}">
                <a16:creationId xmlns:a16="http://schemas.microsoft.com/office/drawing/2014/main" id="{0D978D30-314B-420A-916A-9C685951F084}"/>
              </a:ext>
            </a:extLst>
          </p:cNvPr>
          <p:cNvSpPr txBox="1"/>
          <p:nvPr/>
        </p:nvSpPr>
        <p:spPr>
          <a:xfrm>
            <a:off x="3978443" y="2358449"/>
            <a:ext cx="2575722" cy="1815841"/>
          </a:xfrm>
          <a:prstGeom prst="rect">
            <a:avLst/>
          </a:prstGeom>
          <a:noFill/>
          <a:ln>
            <a:noFill/>
          </a:ln>
        </p:spPr>
        <p:txBody>
          <a:bodyPr spcFirstLastPara="1" wrap="square" lIns="91425" tIns="45700" rIns="91425" bIns="45700" anchor="t" anchorCtr="0">
            <a:spAutoFit/>
          </a:bodyPr>
          <a:lstStyle/>
          <a:p>
            <a:pPr lvl="0" eaLnBrk="0" fontAlgn="base" hangingPunct="0">
              <a:spcBef>
                <a:spcPct val="0"/>
              </a:spcBef>
              <a:spcAft>
                <a:spcPct val="0"/>
              </a:spcAft>
              <a:buClrTx/>
            </a:pPr>
            <a:r>
              <a:rPr lang="es-MX" sz="1600" dirty="0">
                <a:solidFill>
                  <a:schemeClr val="dk1"/>
                </a:solidFill>
                <a:latin typeface="Work Sans Light"/>
                <a:sym typeface="Work Sans Light"/>
              </a:rPr>
              <a:t> </a:t>
            </a:r>
            <a:r>
              <a:rPr lang="es-419" altLang="es-419" sz="1600" dirty="0">
                <a:solidFill>
                  <a:schemeClr val="dk1"/>
                </a:solidFill>
                <a:latin typeface="Work Sans Light"/>
              </a:rPr>
              <a:t>lenguajes</a:t>
            </a:r>
          </a:p>
          <a:p>
            <a:pPr lvl="0" eaLnBrk="0" fontAlgn="base" hangingPunct="0">
              <a:spcBef>
                <a:spcPct val="0"/>
              </a:spcBef>
              <a:spcAft>
                <a:spcPct val="0"/>
              </a:spcAft>
              <a:buClrTx/>
            </a:pPr>
            <a:endParaRPr lang="es-419" altLang="es-419" sz="1600" dirty="0">
              <a:solidFill>
                <a:schemeClr val="dk1"/>
              </a:solidFill>
              <a:latin typeface="Work Sans Light"/>
            </a:endParaRPr>
          </a:p>
          <a:p>
            <a:pPr marL="285750" lvl="0" indent="-285750" eaLnBrk="0" fontAlgn="base" hangingPunct="0">
              <a:spcBef>
                <a:spcPct val="0"/>
              </a:spcBef>
              <a:spcAft>
                <a:spcPct val="0"/>
              </a:spcAft>
              <a:buClrTx/>
              <a:buFont typeface="Wingdings" panose="05000000000000000000" pitchFamily="2" charset="2"/>
              <a:buChar char="q"/>
            </a:pPr>
            <a:r>
              <a:rPr lang="es-419" altLang="es-419" sz="1600" dirty="0">
                <a:solidFill>
                  <a:schemeClr val="dk1"/>
                </a:solidFill>
                <a:latin typeface="Work Sans Light"/>
              </a:rPr>
              <a:t>Java</a:t>
            </a:r>
          </a:p>
          <a:p>
            <a:pPr marL="285750" lvl="0" indent="-285750" eaLnBrk="0" fontAlgn="base" hangingPunct="0">
              <a:spcBef>
                <a:spcPct val="0"/>
              </a:spcBef>
              <a:spcAft>
                <a:spcPct val="0"/>
              </a:spcAft>
              <a:buClrTx/>
              <a:buFont typeface="Wingdings" panose="05000000000000000000" pitchFamily="2" charset="2"/>
              <a:buChar char="q"/>
            </a:pPr>
            <a:r>
              <a:rPr lang="es-419" altLang="es-419" sz="1600" dirty="0">
                <a:solidFill>
                  <a:schemeClr val="dk1"/>
                </a:solidFill>
                <a:latin typeface="Work Sans Light"/>
                <a:sym typeface="Work Sans Light"/>
              </a:rPr>
              <a:t>JavaScript</a:t>
            </a:r>
          </a:p>
          <a:p>
            <a:pPr marL="285750" lvl="0" indent="-285750" eaLnBrk="0" fontAlgn="base" hangingPunct="0">
              <a:spcBef>
                <a:spcPct val="0"/>
              </a:spcBef>
              <a:spcAft>
                <a:spcPct val="0"/>
              </a:spcAft>
              <a:buClrTx/>
              <a:buFont typeface="Wingdings" panose="05000000000000000000" pitchFamily="2" charset="2"/>
              <a:buChar char="q"/>
            </a:pPr>
            <a:r>
              <a:rPr lang="es-MX" sz="1600" dirty="0">
                <a:solidFill>
                  <a:schemeClr val="dk1"/>
                </a:solidFill>
                <a:latin typeface="Work Sans Light"/>
                <a:sym typeface="Work Sans Light"/>
              </a:rPr>
              <a:t>MYSQL</a:t>
            </a:r>
            <a:endParaRPr lang="es-419" altLang="es-419" sz="1600" dirty="0">
              <a:solidFill>
                <a:schemeClr val="dk1"/>
              </a:solidFill>
              <a:latin typeface="Work Sans Light"/>
              <a:sym typeface="Work Sans Light"/>
            </a:endParaRPr>
          </a:p>
          <a:p>
            <a:pPr marL="285750" lvl="0" indent="-285750" eaLnBrk="0" fontAlgn="base" hangingPunct="0">
              <a:spcBef>
                <a:spcPct val="0"/>
              </a:spcBef>
              <a:spcAft>
                <a:spcPct val="0"/>
              </a:spcAft>
              <a:buClrTx/>
              <a:buFont typeface="Wingdings" panose="05000000000000000000" pitchFamily="2" charset="2"/>
              <a:buChar char="q"/>
            </a:pPr>
            <a:r>
              <a:rPr lang="es-419" altLang="es-419" sz="1600" dirty="0">
                <a:solidFill>
                  <a:schemeClr val="dk1"/>
                </a:solidFill>
                <a:latin typeface="Work Sans Light"/>
                <a:sym typeface="Work Sans Light"/>
              </a:rPr>
              <a:t>HTML5</a:t>
            </a:r>
          </a:p>
          <a:p>
            <a:pPr marL="285750" lvl="0" indent="-285750" eaLnBrk="0" fontAlgn="base" hangingPunct="0">
              <a:spcBef>
                <a:spcPct val="0"/>
              </a:spcBef>
              <a:spcAft>
                <a:spcPct val="0"/>
              </a:spcAft>
              <a:buClrTx/>
              <a:buFont typeface="Wingdings" panose="05000000000000000000" pitchFamily="2" charset="2"/>
              <a:buChar char="q"/>
            </a:pPr>
            <a:r>
              <a:rPr lang="es-419" altLang="es-419" sz="1600" dirty="0">
                <a:solidFill>
                  <a:schemeClr val="dk1"/>
                </a:solidFill>
                <a:latin typeface="Work Sans Light"/>
                <a:sym typeface="Work Sans Light"/>
              </a:rPr>
              <a:t>CSS</a:t>
            </a:r>
            <a:endParaRPr lang="es-419" altLang="es-419" sz="1600" dirty="0">
              <a:solidFill>
                <a:schemeClr val="dk1"/>
              </a:solidFill>
              <a:latin typeface="Work Sans Light"/>
            </a:endParaRPr>
          </a:p>
        </p:txBody>
      </p:sp>
      <p:sp>
        <p:nvSpPr>
          <p:cNvPr id="31" name="Google Shape;150;p7">
            <a:extLst>
              <a:ext uri="{FF2B5EF4-FFF2-40B4-BE49-F238E27FC236}">
                <a16:creationId xmlns:a16="http://schemas.microsoft.com/office/drawing/2014/main" id="{0AB87AC4-DF37-403C-BE28-E8B3B90ECFC0}"/>
              </a:ext>
            </a:extLst>
          </p:cNvPr>
          <p:cNvSpPr txBox="1"/>
          <p:nvPr/>
        </p:nvSpPr>
        <p:spPr>
          <a:xfrm>
            <a:off x="7500649" y="2358449"/>
            <a:ext cx="2575722" cy="830956"/>
          </a:xfrm>
          <a:prstGeom prst="rect">
            <a:avLst/>
          </a:prstGeom>
          <a:noFill/>
          <a:ln>
            <a:noFill/>
          </a:ln>
        </p:spPr>
        <p:txBody>
          <a:bodyPr spcFirstLastPara="1" wrap="square" lIns="91425" tIns="45700" rIns="91425" bIns="45700" anchor="t" anchorCtr="0">
            <a:spAutoFit/>
          </a:bodyPr>
          <a:lstStyle/>
          <a:p>
            <a:pPr lvl="0" eaLnBrk="0" fontAlgn="base" hangingPunct="0">
              <a:spcBef>
                <a:spcPct val="0"/>
              </a:spcBef>
              <a:spcAft>
                <a:spcPct val="0"/>
              </a:spcAft>
              <a:buClrTx/>
            </a:pPr>
            <a:r>
              <a:rPr lang="es-MX" sz="1600" dirty="0">
                <a:solidFill>
                  <a:schemeClr val="dk1"/>
                </a:solidFill>
                <a:latin typeface="Work Sans Light"/>
                <a:sym typeface="Work Sans Light"/>
              </a:rPr>
              <a:t> </a:t>
            </a:r>
            <a:r>
              <a:rPr lang="es-419" altLang="es-419" sz="1600" dirty="0" err="1">
                <a:solidFill>
                  <a:schemeClr val="dk1"/>
                </a:solidFill>
                <a:latin typeface="Work Sans Light"/>
              </a:rPr>
              <a:t>Frameworks</a:t>
            </a:r>
            <a:endParaRPr lang="es-419" altLang="es-419" sz="1600" dirty="0">
              <a:solidFill>
                <a:schemeClr val="dk1"/>
              </a:solidFill>
              <a:latin typeface="Work Sans Light"/>
            </a:endParaRPr>
          </a:p>
          <a:p>
            <a:pPr lvl="0" eaLnBrk="0" fontAlgn="base" hangingPunct="0">
              <a:spcBef>
                <a:spcPct val="0"/>
              </a:spcBef>
              <a:spcAft>
                <a:spcPct val="0"/>
              </a:spcAft>
              <a:buClrTx/>
            </a:pPr>
            <a:endParaRPr lang="es-419" altLang="es-419" sz="1600" dirty="0">
              <a:solidFill>
                <a:schemeClr val="dk1"/>
              </a:solidFill>
              <a:latin typeface="Work Sans Light"/>
            </a:endParaRPr>
          </a:p>
          <a:p>
            <a:pPr marL="285750" lvl="0" indent="-285750" eaLnBrk="0" fontAlgn="base" hangingPunct="0">
              <a:spcBef>
                <a:spcPct val="0"/>
              </a:spcBef>
              <a:spcAft>
                <a:spcPct val="0"/>
              </a:spcAft>
              <a:buClrTx/>
              <a:buFont typeface="Wingdings" panose="05000000000000000000" pitchFamily="2" charset="2"/>
              <a:buChar char="q"/>
            </a:pPr>
            <a:r>
              <a:rPr lang="es-419" altLang="es-419" sz="1600" dirty="0">
                <a:solidFill>
                  <a:schemeClr val="dk1"/>
                </a:solidFill>
                <a:latin typeface="Work Sans Light"/>
              </a:rPr>
              <a:t>Reat.js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2"/>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Delimitación</a:t>
            </a:r>
            <a:endParaRPr/>
          </a:p>
        </p:txBody>
      </p:sp>
      <p:sp>
        <p:nvSpPr>
          <p:cNvPr id="192" name="Google Shape;192;p12"/>
          <p:cNvSpPr txBox="1"/>
          <p:nvPr/>
        </p:nvSpPr>
        <p:spPr>
          <a:xfrm>
            <a:off x="8694348" y="508463"/>
            <a:ext cx="1080000" cy="5400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Logo Sistema</a:t>
            </a:r>
            <a:endParaRPr sz="1600" b="1">
              <a:solidFill>
                <a:schemeClr val="lt1"/>
              </a:solidFill>
              <a:latin typeface="Work Sans Light"/>
              <a:ea typeface="Work Sans Light"/>
              <a:cs typeface="Work Sans Light"/>
              <a:sym typeface="Work Sans Light"/>
            </a:endParaRPr>
          </a:p>
        </p:txBody>
      </p:sp>
      <p:sp>
        <p:nvSpPr>
          <p:cNvPr id="193" name="Google Shape;193;p12"/>
          <p:cNvSpPr txBox="1"/>
          <p:nvPr/>
        </p:nvSpPr>
        <p:spPr>
          <a:xfrm>
            <a:off x="9775121" y="510142"/>
            <a:ext cx="1080000" cy="5400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Logo Empresa</a:t>
            </a:r>
            <a:endParaRPr/>
          </a:p>
        </p:txBody>
      </p:sp>
      <p:sp>
        <p:nvSpPr>
          <p:cNvPr id="194" name="Google Shape;194;p12"/>
          <p:cNvSpPr txBox="1"/>
          <p:nvPr/>
        </p:nvSpPr>
        <p:spPr>
          <a:xfrm>
            <a:off x="372353" y="1667521"/>
            <a:ext cx="11447293"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a:solidFill>
                  <a:schemeClr val="dk1"/>
                </a:solidFill>
                <a:latin typeface="Work Sans Light"/>
                <a:ea typeface="Work Sans Light"/>
                <a:cs typeface="Work Sans Light"/>
                <a:sym typeface="Work Sans Light"/>
              </a:rPr>
              <a:t>Párrafo o separación por punto describiendo (máximo 6 líneas por párrafo):</a:t>
            </a:r>
            <a:endParaRPr/>
          </a:p>
          <a:p>
            <a:pPr marL="0" marR="0" lvl="0" indent="0" algn="l" rtl="0">
              <a:spcBef>
                <a:spcPts val="0"/>
              </a:spcBef>
              <a:spcAft>
                <a:spcPts val="0"/>
              </a:spcAft>
              <a:buNone/>
            </a:pPr>
            <a:endParaRPr sz="1600">
              <a:solidFill>
                <a:schemeClr val="dk1"/>
              </a:solidFill>
              <a:latin typeface="Work Sans Light"/>
              <a:ea typeface="Work Sans Light"/>
              <a:cs typeface="Work Sans Light"/>
              <a:sym typeface="Work Sans Light"/>
            </a:endParaRPr>
          </a:p>
          <a:p>
            <a:pPr marL="285750" marR="0" lvl="0" indent="-285750" algn="l" rtl="0">
              <a:spcBef>
                <a:spcPts val="0"/>
              </a:spcBef>
              <a:spcAft>
                <a:spcPts val="0"/>
              </a:spcAft>
              <a:buClr>
                <a:schemeClr val="dk1"/>
              </a:buClr>
              <a:buSzPts val="1600"/>
              <a:buFont typeface="Arial"/>
              <a:buChar char="•"/>
            </a:pPr>
            <a:r>
              <a:rPr lang="es-MX" sz="1600">
                <a:solidFill>
                  <a:schemeClr val="dk1"/>
                </a:solidFill>
                <a:latin typeface="Work Sans Light"/>
                <a:ea typeface="Work Sans Light"/>
                <a:cs typeface="Work Sans Light"/>
                <a:sym typeface="Work Sans Light"/>
              </a:rPr>
              <a:t>El cronograma: Hasta dónde va el proyecto en términos de Tiempo, actividades, evidencias, responsables, entre otros (Revisar concepto de Modelo Gantt)</a:t>
            </a:r>
            <a:endParaRPr/>
          </a:p>
          <a:p>
            <a:pPr marL="0" marR="0" lvl="0" indent="0" algn="l" rtl="0">
              <a:spcBef>
                <a:spcPts val="0"/>
              </a:spcBef>
              <a:spcAft>
                <a:spcPts val="0"/>
              </a:spcAft>
              <a:buNone/>
            </a:pPr>
            <a:endParaRPr sz="1600">
              <a:solidFill>
                <a:schemeClr val="dk1"/>
              </a:solidFill>
              <a:latin typeface="Work Sans Light"/>
              <a:ea typeface="Work Sans Light"/>
              <a:cs typeface="Work Sans Light"/>
              <a:sym typeface="Work Sans Light"/>
            </a:endParaRPr>
          </a:p>
          <a:p>
            <a:pPr marL="0" marR="0" lvl="0" indent="0" algn="l" rtl="0">
              <a:spcBef>
                <a:spcPts val="0"/>
              </a:spcBef>
              <a:spcAft>
                <a:spcPts val="0"/>
              </a:spcAft>
              <a:buNone/>
            </a:pPr>
            <a:r>
              <a:rPr lang="es-MX" sz="1600" b="1">
                <a:solidFill>
                  <a:schemeClr val="dk1"/>
                </a:solidFill>
                <a:latin typeface="Work Sans Light"/>
                <a:ea typeface="Work Sans Light"/>
                <a:cs typeface="Work Sans Light"/>
                <a:sym typeface="Work Sans Light"/>
              </a:rPr>
              <a:t>NOTA</a:t>
            </a:r>
            <a:r>
              <a:rPr lang="es-MX" sz="1600">
                <a:solidFill>
                  <a:schemeClr val="dk1"/>
                </a:solidFill>
                <a:latin typeface="Work Sans Light"/>
                <a:ea typeface="Work Sans Light"/>
                <a:cs typeface="Work Sans Light"/>
                <a:sym typeface="Work Sans Light"/>
              </a:rPr>
              <a:t>: No se usan viñetas o numeración, a menos que sea para contar o describir una serie de pasos. Se pueden utilizar imágenes de apoyo.</a:t>
            </a:r>
            <a:endParaRPr/>
          </a:p>
          <a:p>
            <a:pPr marL="0" marR="0" lvl="0" indent="0" algn="l" rtl="0">
              <a:spcBef>
                <a:spcPts val="0"/>
              </a:spcBef>
              <a:spcAft>
                <a:spcPts val="0"/>
              </a:spcAft>
              <a:buNone/>
            </a:pPr>
            <a:endParaRPr sz="1600">
              <a:solidFill>
                <a:schemeClr val="dk1"/>
              </a:solidFill>
              <a:latin typeface="Work Sans Light"/>
              <a:ea typeface="Work Sans Light"/>
              <a:cs typeface="Work Sans Light"/>
              <a:sym typeface="Work Sans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3"/>
          <p:cNvSpPr txBox="1"/>
          <p:nvPr/>
        </p:nvSpPr>
        <p:spPr>
          <a:xfrm>
            <a:off x="456236" y="457723"/>
            <a:ext cx="10515600"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C0C0C"/>
              </a:buClr>
              <a:buSzPts val="4400"/>
              <a:buFont typeface="Work Sans Medium"/>
              <a:buNone/>
            </a:pPr>
            <a:r>
              <a:rPr lang="es-MX" sz="4400">
                <a:solidFill>
                  <a:srgbClr val="0C0C0C"/>
                </a:solidFill>
                <a:latin typeface="Work Sans Medium"/>
                <a:ea typeface="Work Sans Medium"/>
                <a:cs typeface="Work Sans Medium"/>
                <a:sym typeface="Work Sans Medium"/>
              </a:rPr>
              <a:t>Delimitación</a:t>
            </a:r>
            <a:endParaRPr/>
          </a:p>
        </p:txBody>
      </p:sp>
      <p:sp>
        <p:nvSpPr>
          <p:cNvPr id="200" name="Google Shape;200;p13"/>
          <p:cNvSpPr txBox="1"/>
          <p:nvPr/>
        </p:nvSpPr>
        <p:spPr>
          <a:xfrm>
            <a:off x="8694348" y="508463"/>
            <a:ext cx="1080000" cy="54000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600">
                <a:solidFill>
                  <a:schemeClr val="dk1"/>
                </a:solidFill>
                <a:latin typeface="Work Sans Light"/>
                <a:ea typeface="Work Sans Light"/>
                <a:cs typeface="Work Sans Light"/>
                <a:sym typeface="Work Sans Light"/>
              </a:rPr>
              <a:t>Logo Sistema</a:t>
            </a:r>
            <a:endParaRPr sz="1600">
              <a:solidFill>
                <a:schemeClr val="dk1"/>
              </a:solidFill>
              <a:latin typeface="Work Sans Light"/>
              <a:ea typeface="Work Sans Light"/>
              <a:cs typeface="Work Sans Light"/>
              <a:sym typeface="Work Sans Light"/>
            </a:endParaRPr>
          </a:p>
        </p:txBody>
      </p:sp>
      <p:sp>
        <p:nvSpPr>
          <p:cNvPr id="201" name="Google Shape;201;p13"/>
          <p:cNvSpPr txBox="1"/>
          <p:nvPr/>
        </p:nvSpPr>
        <p:spPr>
          <a:xfrm>
            <a:off x="9775121" y="510142"/>
            <a:ext cx="1080000" cy="54000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600">
                <a:solidFill>
                  <a:schemeClr val="dk1"/>
                </a:solidFill>
                <a:latin typeface="Work Sans Light"/>
                <a:ea typeface="Work Sans Light"/>
                <a:cs typeface="Work Sans Light"/>
                <a:sym typeface="Work Sans Light"/>
              </a:rPr>
              <a:t>Logo Empresa</a:t>
            </a:r>
            <a:endParaRPr/>
          </a:p>
        </p:txBody>
      </p:sp>
      <p:sp>
        <p:nvSpPr>
          <p:cNvPr id="202" name="Google Shape;202;p13"/>
          <p:cNvSpPr txBox="1"/>
          <p:nvPr/>
        </p:nvSpPr>
        <p:spPr>
          <a:xfrm>
            <a:off x="372353" y="1667521"/>
            <a:ext cx="1144729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a:solidFill>
                  <a:schemeClr val="dk1"/>
                </a:solidFill>
                <a:latin typeface="Work Sans Light"/>
                <a:ea typeface="Work Sans Light"/>
                <a:cs typeface="Work Sans Light"/>
                <a:sym typeface="Work Sans Light"/>
              </a:rPr>
              <a:t>“Si se requiere esta diapositiva, de lo contrario eliminarla”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4"/>
          <p:cNvSpPr txBox="1">
            <a:spLocks noGrp="1"/>
          </p:cNvSpPr>
          <p:nvPr>
            <p:ph type="title"/>
          </p:nvPr>
        </p:nvSpPr>
        <p:spPr>
          <a:xfrm>
            <a:off x="456236" y="11048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200"/>
              <a:buFont typeface="Work Sans Medium"/>
              <a:buNone/>
            </a:pPr>
            <a:r>
              <a:rPr lang="es-MX" sz="3200">
                <a:solidFill>
                  <a:schemeClr val="lt1"/>
                </a:solidFill>
                <a:latin typeface="Work Sans Medium"/>
                <a:ea typeface="Work Sans Medium"/>
                <a:cs typeface="Work Sans Medium"/>
                <a:sym typeface="Work Sans Medium"/>
              </a:rPr>
              <a:t>Entregables Proyecto Formativo</a:t>
            </a:r>
            <a:br>
              <a:rPr lang="es-MX" sz="3200">
                <a:solidFill>
                  <a:schemeClr val="lt1"/>
                </a:solidFill>
                <a:latin typeface="Work Sans Medium"/>
                <a:ea typeface="Work Sans Medium"/>
                <a:cs typeface="Work Sans Medium"/>
                <a:sym typeface="Work Sans Medium"/>
              </a:rPr>
            </a:br>
            <a:r>
              <a:rPr lang="es-MX" sz="3200">
                <a:solidFill>
                  <a:schemeClr val="lt1"/>
                </a:solidFill>
                <a:latin typeface="Work Sans Medium"/>
                <a:ea typeface="Work Sans Medium"/>
                <a:cs typeface="Work Sans Medium"/>
                <a:sym typeface="Work Sans Medium"/>
              </a:rPr>
              <a:t>por Trimestre</a:t>
            </a:r>
            <a:endParaRPr sz="3200">
              <a:solidFill>
                <a:schemeClr val="lt1"/>
              </a:solidFill>
              <a:latin typeface="Work Sans Medium"/>
              <a:ea typeface="Work Sans Medium"/>
              <a:cs typeface="Work Sans Medium"/>
              <a:sym typeface="Work Sans Medium"/>
            </a:endParaRPr>
          </a:p>
        </p:txBody>
      </p:sp>
      <p:sp>
        <p:nvSpPr>
          <p:cNvPr id="209" name="Google Shape;209;p14"/>
          <p:cNvSpPr txBox="1"/>
          <p:nvPr/>
        </p:nvSpPr>
        <p:spPr>
          <a:xfrm>
            <a:off x="8694348" y="508463"/>
            <a:ext cx="1080000" cy="5400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Logo Sistema</a:t>
            </a:r>
            <a:endParaRPr sz="1600" b="1">
              <a:solidFill>
                <a:schemeClr val="lt1"/>
              </a:solidFill>
              <a:latin typeface="Work Sans Light"/>
              <a:ea typeface="Work Sans Light"/>
              <a:cs typeface="Work Sans Light"/>
              <a:sym typeface="Work Sans Light"/>
            </a:endParaRPr>
          </a:p>
        </p:txBody>
      </p:sp>
      <p:sp>
        <p:nvSpPr>
          <p:cNvPr id="210" name="Google Shape;210;p14"/>
          <p:cNvSpPr txBox="1"/>
          <p:nvPr/>
        </p:nvSpPr>
        <p:spPr>
          <a:xfrm>
            <a:off x="9775121" y="510142"/>
            <a:ext cx="1080000" cy="540000"/>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600" b="1">
                <a:solidFill>
                  <a:schemeClr val="lt1"/>
                </a:solidFill>
                <a:latin typeface="Work Sans Light"/>
                <a:ea typeface="Work Sans Light"/>
                <a:cs typeface="Work Sans Light"/>
                <a:sym typeface="Work Sans Light"/>
              </a:rPr>
              <a:t>Logo Empresa</a:t>
            </a:r>
            <a:endParaRPr/>
          </a:p>
        </p:txBody>
      </p:sp>
      <p:sp>
        <p:nvSpPr>
          <p:cNvPr id="211" name="Google Shape;211;p14"/>
          <p:cNvSpPr txBox="1"/>
          <p:nvPr/>
        </p:nvSpPr>
        <p:spPr>
          <a:xfrm>
            <a:off x="1366063" y="1881018"/>
            <a:ext cx="3854368" cy="2031325"/>
          </a:xfrm>
          <a:prstGeom prst="rect">
            <a:avLst/>
          </a:prstGeom>
          <a:noFill/>
          <a:ln>
            <a:noFill/>
          </a:ln>
        </p:spPr>
        <p:txBody>
          <a:bodyPr spcFirstLastPara="1" wrap="square" lIns="91425" tIns="45700" rIns="91425" bIns="45700" anchor="t" anchorCtr="0">
            <a:spAutoFit/>
          </a:bodyPr>
          <a:lstStyle/>
          <a:p>
            <a:pPr marL="171450" marR="0" lvl="0" indent="-171450" algn="l" rtl="0">
              <a:spcBef>
                <a:spcPts val="0"/>
              </a:spcBef>
              <a:spcAft>
                <a:spcPts val="0"/>
              </a:spcAft>
              <a:buClr>
                <a:schemeClr val="dk1"/>
              </a:buClr>
              <a:buSzPts val="1400"/>
              <a:buFont typeface="Arial"/>
              <a:buChar char="•"/>
            </a:pPr>
            <a:r>
              <a:rPr lang="es-MX" sz="1400" dirty="0">
                <a:solidFill>
                  <a:schemeClr val="dk1"/>
                </a:solidFill>
                <a:latin typeface="Work Sans Light"/>
                <a:ea typeface="Work Sans Light"/>
                <a:cs typeface="Work Sans Light"/>
                <a:sym typeface="Work Sans Light"/>
              </a:rPr>
              <a:t>Plan de Proyecto</a:t>
            </a:r>
            <a:endParaRPr dirty="0"/>
          </a:p>
          <a:p>
            <a:pPr marL="171450" marR="0" lvl="0" indent="-171450" algn="l" rtl="0">
              <a:spcBef>
                <a:spcPts val="0"/>
              </a:spcBef>
              <a:spcAft>
                <a:spcPts val="0"/>
              </a:spcAft>
              <a:buClr>
                <a:schemeClr val="dk1"/>
              </a:buClr>
              <a:buSzPts val="1400"/>
              <a:buFont typeface="Arial"/>
              <a:buChar char="•"/>
            </a:pPr>
            <a:r>
              <a:rPr lang="es-MX" sz="1400" dirty="0">
                <a:solidFill>
                  <a:schemeClr val="dk1"/>
                </a:solidFill>
                <a:latin typeface="Work Sans Light"/>
                <a:ea typeface="Work Sans Light"/>
                <a:cs typeface="Work Sans Light"/>
                <a:sym typeface="Work Sans Light"/>
              </a:rPr>
              <a:t>Levantamiento de Información</a:t>
            </a:r>
            <a:endParaRPr dirty="0"/>
          </a:p>
          <a:p>
            <a:pPr marL="171450" marR="0" lvl="0" indent="-171450" algn="l" rtl="0">
              <a:spcBef>
                <a:spcPts val="0"/>
              </a:spcBef>
              <a:spcAft>
                <a:spcPts val="0"/>
              </a:spcAft>
              <a:buClr>
                <a:schemeClr val="dk1"/>
              </a:buClr>
              <a:buSzPts val="1400"/>
              <a:buFont typeface="Arial"/>
              <a:buChar char="•"/>
            </a:pPr>
            <a:r>
              <a:rPr lang="es-MX" sz="1400" dirty="0">
                <a:solidFill>
                  <a:schemeClr val="dk1"/>
                </a:solidFill>
                <a:latin typeface="Work Sans Light"/>
                <a:ea typeface="Work Sans Light"/>
                <a:cs typeface="Work Sans Light"/>
                <a:sym typeface="Work Sans Light"/>
              </a:rPr>
              <a:t>Diagrama de Procesos</a:t>
            </a:r>
            <a:endParaRPr dirty="0"/>
          </a:p>
          <a:p>
            <a:pPr marL="171450" marR="0" lvl="0" indent="-171450" algn="l" rtl="0">
              <a:spcBef>
                <a:spcPts val="0"/>
              </a:spcBef>
              <a:spcAft>
                <a:spcPts val="0"/>
              </a:spcAft>
              <a:buClr>
                <a:schemeClr val="dk1"/>
              </a:buClr>
              <a:buSzPts val="1400"/>
              <a:buFont typeface="Arial"/>
              <a:buChar char="•"/>
            </a:pPr>
            <a:r>
              <a:rPr lang="es-MX" sz="1400" dirty="0">
                <a:solidFill>
                  <a:schemeClr val="dk1"/>
                </a:solidFill>
                <a:latin typeface="Work Sans Light"/>
                <a:ea typeface="Work Sans Light"/>
                <a:cs typeface="Work Sans Light"/>
                <a:sym typeface="Work Sans Light"/>
              </a:rPr>
              <a:t>IEEE-830 o Historias de Usuario</a:t>
            </a:r>
            <a:endParaRPr dirty="0"/>
          </a:p>
          <a:p>
            <a:pPr marL="171450" marR="0" lvl="0" indent="-171450" algn="l" rtl="0">
              <a:spcBef>
                <a:spcPts val="0"/>
              </a:spcBef>
              <a:spcAft>
                <a:spcPts val="0"/>
              </a:spcAft>
              <a:buClr>
                <a:schemeClr val="dk1"/>
              </a:buClr>
              <a:buSzPts val="1400"/>
              <a:buFont typeface="Arial"/>
              <a:buChar char="•"/>
            </a:pPr>
            <a:r>
              <a:rPr lang="es-MX" sz="1400" dirty="0">
                <a:solidFill>
                  <a:schemeClr val="dk1"/>
                </a:solidFill>
                <a:latin typeface="Work Sans Light"/>
                <a:ea typeface="Work Sans Light"/>
                <a:cs typeface="Work Sans Light"/>
                <a:sym typeface="Work Sans Light"/>
              </a:rPr>
              <a:t>Diagrama Casos de Uso</a:t>
            </a:r>
            <a:endParaRPr dirty="0"/>
          </a:p>
          <a:p>
            <a:pPr marL="171450" marR="0" lvl="0" indent="-171450" algn="l" rtl="0">
              <a:spcBef>
                <a:spcPts val="0"/>
              </a:spcBef>
              <a:spcAft>
                <a:spcPts val="0"/>
              </a:spcAft>
              <a:buClr>
                <a:schemeClr val="dk1"/>
              </a:buClr>
              <a:buSzPts val="1400"/>
              <a:buFont typeface="Arial"/>
              <a:buChar char="•"/>
            </a:pPr>
            <a:r>
              <a:rPr lang="es-MX" sz="1400" dirty="0">
                <a:solidFill>
                  <a:schemeClr val="dk1"/>
                </a:solidFill>
                <a:latin typeface="Work Sans Light"/>
                <a:ea typeface="Work Sans Light"/>
                <a:cs typeface="Work Sans Light"/>
                <a:sym typeface="Work Sans Light"/>
              </a:rPr>
              <a:t>Casos de Uso Extendido</a:t>
            </a:r>
            <a:endParaRPr dirty="0"/>
          </a:p>
          <a:p>
            <a:pPr marL="171450" marR="0" lvl="0" indent="-171450" algn="l" rtl="0">
              <a:spcBef>
                <a:spcPts val="0"/>
              </a:spcBef>
              <a:spcAft>
                <a:spcPts val="0"/>
              </a:spcAft>
              <a:buClr>
                <a:schemeClr val="dk1"/>
              </a:buClr>
              <a:buSzPts val="1400"/>
              <a:buFont typeface="Arial"/>
              <a:buChar char="•"/>
            </a:pPr>
            <a:r>
              <a:rPr lang="es-MX" sz="1400" dirty="0">
                <a:solidFill>
                  <a:schemeClr val="dk1"/>
                </a:solidFill>
                <a:latin typeface="Work Sans Light"/>
                <a:ea typeface="Work Sans Light"/>
                <a:cs typeface="Work Sans Light"/>
                <a:sym typeface="Work Sans Light"/>
              </a:rPr>
              <a:t>Diagrama de Clases</a:t>
            </a:r>
            <a:endParaRPr dirty="0"/>
          </a:p>
          <a:p>
            <a:pPr marL="171450" marR="0" lvl="0" indent="-171450" algn="l" rtl="0">
              <a:spcBef>
                <a:spcPts val="0"/>
              </a:spcBef>
              <a:spcAft>
                <a:spcPts val="0"/>
              </a:spcAft>
              <a:buClr>
                <a:schemeClr val="dk1"/>
              </a:buClr>
              <a:buSzPts val="1400"/>
              <a:buFont typeface="Arial"/>
              <a:buChar char="•"/>
            </a:pPr>
            <a:r>
              <a:rPr lang="es-MX" sz="1400" dirty="0">
                <a:solidFill>
                  <a:schemeClr val="dk1"/>
                </a:solidFill>
                <a:latin typeface="Work Sans Light"/>
                <a:ea typeface="Work Sans Light"/>
                <a:cs typeface="Work Sans Light"/>
                <a:sym typeface="Work Sans Light"/>
              </a:rPr>
              <a:t>Prototipo No Funcional</a:t>
            </a:r>
            <a:endParaRPr dirty="0"/>
          </a:p>
          <a:p>
            <a:pPr marL="171450" marR="0" lvl="0" indent="-171450" algn="l" rtl="0">
              <a:spcBef>
                <a:spcPts val="0"/>
              </a:spcBef>
              <a:spcAft>
                <a:spcPts val="0"/>
              </a:spcAft>
              <a:buClr>
                <a:schemeClr val="dk1"/>
              </a:buClr>
              <a:buSzPts val="1400"/>
              <a:buFont typeface="Arial"/>
              <a:buChar char="•"/>
            </a:pPr>
            <a:r>
              <a:rPr lang="es-MX" sz="1400" dirty="0">
                <a:solidFill>
                  <a:schemeClr val="dk1"/>
                </a:solidFill>
                <a:latin typeface="Work Sans Light"/>
                <a:ea typeface="Work Sans Light"/>
                <a:cs typeface="Work Sans Light"/>
                <a:sym typeface="Work Sans Light"/>
              </a:rPr>
              <a:t>Patrón de Diseño</a:t>
            </a:r>
            <a:endParaRPr dirty="0"/>
          </a:p>
        </p:txBody>
      </p:sp>
      <p:grpSp>
        <p:nvGrpSpPr>
          <p:cNvPr id="212" name="Google Shape;212;p14"/>
          <p:cNvGrpSpPr/>
          <p:nvPr/>
        </p:nvGrpSpPr>
        <p:grpSpPr>
          <a:xfrm>
            <a:off x="1111717" y="1494678"/>
            <a:ext cx="3239167" cy="347863"/>
            <a:chOff x="668953" y="1494678"/>
            <a:chExt cx="3239167" cy="347863"/>
          </a:xfrm>
        </p:grpSpPr>
        <p:sp>
          <p:nvSpPr>
            <p:cNvPr id="213" name="Google Shape;213;p14"/>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4" name="Google Shape;214;p14"/>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a:solidFill>
                    <a:srgbClr val="38AA00"/>
                  </a:solidFill>
                  <a:latin typeface="Work Sans Light"/>
                  <a:ea typeface="Work Sans Light"/>
                  <a:cs typeface="Work Sans Light"/>
                  <a:sym typeface="Work Sans Light"/>
                </a:rPr>
                <a:t>Primer Trimestre</a:t>
              </a:r>
              <a:endParaRPr/>
            </a:p>
          </p:txBody>
        </p:sp>
      </p:grpSp>
      <p:sp>
        <p:nvSpPr>
          <p:cNvPr id="215" name="Google Shape;215;p14"/>
          <p:cNvSpPr txBox="1"/>
          <p:nvPr/>
        </p:nvSpPr>
        <p:spPr>
          <a:xfrm>
            <a:off x="1366063" y="4602498"/>
            <a:ext cx="3854368" cy="203132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Modelo Entidad Relación</a:t>
            </a:r>
            <a:endParaRPr/>
          </a:p>
          <a:p>
            <a:pPr marL="285750" marR="0" lvl="0" indent="-285750" algn="l" rtl="0">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Modelo Relacional</a:t>
            </a:r>
            <a:endParaRPr/>
          </a:p>
          <a:p>
            <a:pPr marL="285750" marR="0" lvl="0" indent="-285750" algn="l" rtl="0">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Diccionario de Datos</a:t>
            </a:r>
            <a:endParaRPr/>
          </a:p>
          <a:p>
            <a:pPr marL="285750" marR="0" lvl="0" indent="-285750" algn="l" rtl="0">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Script de la BBDD</a:t>
            </a:r>
            <a:endParaRPr/>
          </a:p>
          <a:p>
            <a:pPr marL="285750" marR="0" lvl="0" indent="-285750" algn="l" rtl="0">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Sentencias DDL</a:t>
            </a:r>
            <a:endParaRPr/>
          </a:p>
          <a:p>
            <a:pPr marL="285750" marR="0" lvl="0" indent="-285750" algn="l" rtl="0">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Consultas DML</a:t>
            </a:r>
            <a:endParaRPr/>
          </a:p>
          <a:p>
            <a:pPr marL="285750" marR="0" lvl="0" indent="-285750" algn="l" rtl="0">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Automatización de la BBDD</a:t>
            </a:r>
            <a:endParaRPr/>
          </a:p>
          <a:p>
            <a:pPr marL="285750" marR="0" lvl="0" indent="-285750" algn="l" rtl="0">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Sistema de Información Web – Servidor Local</a:t>
            </a:r>
            <a:endParaRPr/>
          </a:p>
        </p:txBody>
      </p:sp>
      <p:grpSp>
        <p:nvGrpSpPr>
          <p:cNvPr id="216" name="Google Shape;216;p14"/>
          <p:cNvGrpSpPr/>
          <p:nvPr/>
        </p:nvGrpSpPr>
        <p:grpSpPr>
          <a:xfrm>
            <a:off x="1060822" y="4230357"/>
            <a:ext cx="3239167" cy="347863"/>
            <a:chOff x="668953" y="1494678"/>
            <a:chExt cx="3239167" cy="347863"/>
          </a:xfrm>
        </p:grpSpPr>
        <p:sp>
          <p:nvSpPr>
            <p:cNvPr id="217" name="Google Shape;217;p14"/>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8" name="Google Shape;218;p14"/>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a:solidFill>
                    <a:srgbClr val="38AA00"/>
                  </a:solidFill>
                  <a:latin typeface="Work Sans Light"/>
                  <a:ea typeface="Work Sans Light"/>
                  <a:cs typeface="Work Sans Light"/>
                  <a:sym typeface="Work Sans Light"/>
                </a:rPr>
                <a:t>Segundo Trimestre</a:t>
              </a:r>
              <a:endParaRPr/>
            </a:p>
          </p:txBody>
        </p:sp>
      </p:grpSp>
      <p:grpSp>
        <p:nvGrpSpPr>
          <p:cNvPr id="219" name="Google Shape;219;p14"/>
          <p:cNvGrpSpPr/>
          <p:nvPr/>
        </p:nvGrpSpPr>
        <p:grpSpPr>
          <a:xfrm>
            <a:off x="4902545" y="2675450"/>
            <a:ext cx="3239167" cy="347863"/>
            <a:chOff x="668953" y="1494678"/>
            <a:chExt cx="3239167" cy="347863"/>
          </a:xfrm>
        </p:grpSpPr>
        <p:sp>
          <p:nvSpPr>
            <p:cNvPr id="220" name="Google Shape;220;p14"/>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1" name="Google Shape;221;p14"/>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a:solidFill>
                    <a:srgbClr val="38AA00"/>
                  </a:solidFill>
                  <a:latin typeface="Work Sans Light"/>
                  <a:ea typeface="Work Sans Light"/>
                  <a:cs typeface="Work Sans Light"/>
                  <a:sym typeface="Work Sans Light"/>
                </a:rPr>
                <a:t>Tercer Trimestre</a:t>
              </a:r>
              <a:endParaRPr/>
            </a:p>
          </p:txBody>
        </p:sp>
      </p:grpSp>
      <p:sp>
        <p:nvSpPr>
          <p:cNvPr id="222" name="Google Shape;222;p14"/>
          <p:cNvSpPr txBox="1"/>
          <p:nvPr/>
        </p:nvSpPr>
        <p:spPr>
          <a:xfrm>
            <a:off x="5138058" y="3116381"/>
            <a:ext cx="3854368" cy="523220"/>
          </a:xfrm>
          <a:prstGeom prst="rect">
            <a:avLst/>
          </a:prstGeom>
          <a:noFill/>
          <a:ln>
            <a:noFill/>
          </a:ln>
        </p:spPr>
        <p:txBody>
          <a:bodyPr spcFirstLastPara="1" wrap="square" lIns="91425" tIns="45700" rIns="91425" bIns="45700" anchor="t" anchorCtr="0">
            <a:spAutoFit/>
          </a:bodyPr>
          <a:lstStyle/>
          <a:p>
            <a:pPr marL="171450" marR="0" lvl="0" indent="-171450" algn="l" rtl="0">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Planeación de Pruebas</a:t>
            </a:r>
            <a:endParaRPr/>
          </a:p>
          <a:p>
            <a:pPr marL="171450" marR="0" lvl="0" indent="-171450" algn="l" rtl="0">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Ejecución de Pruebas</a:t>
            </a:r>
            <a:endParaRPr/>
          </a:p>
        </p:txBody>
      </p:sp>
      <p:grpSp>
        <p:nvGrpSpPr>
          <p:cNvPr id="223" name="Google Shape;223;p14"/>
          <p:cNvGrpSpPr/>
          <p:nvPr/>
        </p:nvGrpSpPr>
        <p:grpSpPr>
          <a:xfrm>
            <a:off x="4909555" y="4722219"/>
            <a:ext cx="3239167" cy="347863"/>
            <a:chOff x="668953" y="1494678"/>
            <a:chExt cx="3239167" cy="347863"/>
          </a:xfrm>
        </p:grpSpPr>
        <p:sp>
          <p:nvSpPr>
            <p:cNvPr id="224" name="Google Shape;224;p14"/>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5" name="Google Shape;225;p14"/>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a:solidFill>
                    <a:srgbClr val="38AA00"/>
                  </a:solidFill>
                  <a:latin typeface="Work Sans Light"/>
                  <a:ea typeface="Work Sans Light"/>
                  <a:cs typeface="Work Sans Light"/>
                  <a:sym typeface="Work Sans Light"/>
                </a:rPr>
                <a:t>Cuarto Trimestre</a:t>
              </a:r>
              <a:endParaRPr/>
            </a:p>
          </p:txBody>
        </p:sp>
      </p:grpSp>
      <p:sp>
        <p:nvSpPr>
          <p:cNvPr id="226" name="Google Shape;226;p14"/>
          <p:cNvSpPr txBox="1"/>
          <p:nvPr/>
        </p:nvSpPr>
        <p:spPr>
          <a:xfrm>
            <a:off x="5138058" y="5219739"/>
            <a:ext cx="3854368" cy="738664"/>
          </a:xfrm>
          <a:prstGeom prst="rect">
            <a:avLst/>
          </a:prstGeom>
          <a:noFill/>
          <a:ln>
            <a:noFill/>
          </a:ln>
        </p:spPr>
        <p:txBody>
          <a:bodyPr spcFirstLastPara="1" wrap="square" lIns="91425" tIns="45700" rIns="91425" bIns="45700" anchor="t" anchorCtr="0">
            <a:spAutoFit/>
          </a:bodyPr>
          <a:lstStyle/>
          <a:p>
            <a:pPr marL="171450" marR="0" lvl="0" indent="-171450" algn="l" rtl="0">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Manual de Instalación </a:t>
            </a:r>
            <a:endParaRPr/>
          </a:p>
          <a:p>
            <a:pPr marL="171450" marR="0" lvl="0" indent="-171450" algn="l" rtl="0">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Configuración del Servidor de Aplicaciones</a:t>
            </a:r>
            <a:endParaRPr/>
          </a:p>
          <a:p>
            <a:pPr marL="171450" marR="0" lvl="0" indent="-171450" algn="l" rtl="0">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Configuración del Servidor de BBDD</a:t>
            </a:r>
            <a:endParaRPr/>
          </a:p>
        </p:txBody>
      </p:sp>
      <p:grpSp>
        <p:nvGrpSpPr>
          <p:cNvPr id="227" name="Google Shape;227;p14"/>
          <p:cNvGrpSpPr/>
          <p:nvPr/>
        </p:nvGrpSpPr>
        <p:grpSpPr>
          <a:xfrm>
            <a:off x="8350341" y="3568215"/>
            <a:ext cx="3239167" cy="347863"/>
            <a:chOff x="668953" y="1494678"/>
            <a:chExt cx="3239167" cy="347863"/>
          </a:xfrm>
        </p:grpSpPr>
        <p:sp>
          <p:nvSpPr>
            <p:cNvPr id="228" name="Google Shape;228;p14"/>
            <p:cNvSpPr/>
            <p:nvPr/>
          </p:nvSpPr>
          <p:spPr>
            <a:xfrm>
              <a:off x="781688" y="1796822"/>
              <a:ext cx="971956" cy="45719"/>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 name="Google Shape;229;p14"/>
            <p:cNvSpPr txBox="1"/>
            <p:nvPr/>
          </p:nvSpPr>
          <p:spPr>
            <a:xfrm>
              <a:off x="668953" y="1494678"/>
              <a:ext cx="3239167" cy="2945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1800"/>
                <a:buFont typeface="Work Sans Light"/>
                <a:buNone/>
              </a:pPr>
              <a:r>
                <a:rPr lang="es-MX" sz="1800" b="1">
                  <a:solidFill>
                    <a:srgbClr val="38AA00"/>
                  </a:solidFill>
                  <a:latin typeface="Work Sans Light"/>
                  <a:ea typeface="Work Sans Light"/>
                  <a:cs typeface="Work Sans Light"/>
                  <a:sym typeface="Work Sans Light"/>
                </a:rPr>
                <a:t>Quinto Trimestre</a:t>
              </a:r>
              <a:endParaRPr/>
            </a:p>
          </p:txBody>
        </p:sp>
      </p:grpSp>
      <p:sp>
        <p:nvSpPr>
          <p:cNvPr id="230" name="Google Shape;230;p14"/>
          <p:cNvSpPr txBox="1"/>
          <p:nvPr/>
        </p:nvSpPr>
        <p:spPr>
          <a:xfrm>
            <a:off x="8578844" y="4065735"/>
            <a:ext cx="2750090" cy="738664"/>
          </a:xfrm>
          <a:prstGeom prst="rect">
            <a:avLst/>
          </a:prstGeom>
          <a:noFill/>
          <a:ln>
            <a:noFill/>
          </a:ln>
        </p:spPr>
        <p:txBody>
          <a:bodyPr spcFirstLastPara="1" wrap="square" lIns="91425" tIns="45700" rIns="91425" bIns="45700" anchor="t" anchorCtr="0">
            <a:spAutoFit/>
          </a:bodyPr>
          <a:lstStyle/>
          <a:p>
            <a:pPr marL="171450" marR="0" lvl="0" indent="-171450" algn="l" rtl="0">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Manual de Usuario</a:t>
            </a:r>
            <a:endParaRPr/>
          </a:p>
          <a:p>
            <a:pPr marL="171450" marR="0" lvl="0" indent="-171450" algn="l" rtl="0">
              <a:spcBef>
                <a:spcPts val="0"/>
              </a:spcBef>
              <a:spcAft>
                <a:spcPts val="0"/>
              </a:spcAft>
              <a:buClr>
                <a:schemeClr val="dk1"/>
              </a:buClr>
              <a:buSzPts val="1400"/>
              <a:buFont typeface="Arial"/>
              <a:buChar char="•"/>
            </a:pPr>
            <a:r>
              <a:rPr lang="es-MX" sz="1400">
                <a:solidFill>
                  <a:schemeClr val="dk1"/>
                </a:solidFill>
                <a:latin typeface="Work Sans Light"/>
                <a:ea typeface="Work Sans Light"/>
                <a:cs typeface="Work Sans Light"/>
                <a:sym typeface="Work Sans Light"/>
              </a:rPr>
              <a:t>Sistema de Información Web – Servidor Externo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235" name="Google Shape;235;p15" descr="Imagen que contiene Interfaz de usuario gráfica&#10;&#10;Descripción generada automáticamente"/>
          <p:cNvPicPr preferRelativeResize="0"/>
          <p:nvPr/>
        </p:nvPicPr>
        <p:blipFill rotWithShape="1">
          <a:blip r:embed="rId3">
            <a:alphaModFix/>
          </a:blip>
          <a:srcRect/>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TotalTime>
  <Words>1912</Words>
  <Application>Microsoft Office PowerPoint</Application>
  <PresentationFormat>Panorámica</PresentationFormat>
  <Paragraphs>230</Paragraphs>
  <Slides>15</Slides>
  <Notes>15</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15</vt:i4>
      </vt:variant>
    </vt:vector>
  </HeadingPairs>
  <TitlesOfParts>
    <vt:vector size="23" baseType="lpstr">
      <vt:lpstr>Work Sans Light</vt:lpstr>
      <vt:lpstr>Arial</vt:lpstr>
      <vt:lpstr>ui-sans-serif</vt:lpstr>
      <vt:lpstr>Wingdings</vt:lpstr>
      <vt:lpstr>Calibri</vt:lpstr>
      <vt:lpstr>Work Sans</vt:lpstr>
      <vt:lpstr>Work Sans Medium</vt:lpstr>
      <vt:lpstr>Tema de Office</vt:lpstr>
      <vt:lpstr>Presentación de PowerPoint</vt:lpstr>
      <vt:lpstr>Presentación de PowerPoint</vt:lpstr>
      <vt:lpstr>Presentación de PowerPoint</vt:lpstr>
      <vt:lpstr>Presentación de PowerPoint</vt:lpstr>
      <vt:lpstr>Problema</vt:lpstr>
      <vt:lpstr>Presentación de PowerPoint</vt:lpstr>
      <vt:lpstr>Presentación de PowerPoint</vt:lpstr>
      <vt:lpstr>Justificación</vt:lpstr>
      <vt:lpstr>Presentación de PowerPoint</vt:lpstr>
      <vt:lpstr>Alcance</vt:lpstr>
      <vt:lpstr>Presentación de PowerPoint</vt:lpstr>
      <vt:lpstr>Delimitación</vt:lpstr>
      <vt:lpstr>Presentación de PowerPoint</vt:lpstr>
      <vt:lpstr>Entregables Proyecto Formativo por Trimestre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APRENDIZ</cp:lastModifiedBy>
  <cp:revision>8</cp:revision>
  <dcterms:created xsi:type="dcterms:W3CDTF">2020-10-01T23:51:28Z</dcterms:created>
  <dcterms:modified xsi:type="dcterms:W3CDTF">2026-02-06T21:34:36Z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